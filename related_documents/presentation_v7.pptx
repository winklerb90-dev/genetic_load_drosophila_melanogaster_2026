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91" r:id="rId2"/>
    <p:sldId id="366" r:id="rId3"/>
    <p:sldId id="334" r:id="rId4"/>
    <p:sldId id="336" r:id="rId5"/>
    <p:sldId id="341" r:id="rId6"/>
    <p:sldId id="342" r:id="rId7"/>
    <p:sldId id="343" r:id="rId8"/>
    <p:sldId id="345" r:id="rId9"/>
    <p:sldId id="372" r:id="rId10"/>
    <p:sldId id="369" r:id="rId11"/>
    <p:sldId id="370" r:id="rId12"/>
    <p:sldId id="371" r:id="rId13"/>
    <p:sldId id="365" r:id="rId14"/>
    <p:sldId id="346" r:id="rId15"/>
    <p:sldId id="347" r:id="rId16"/>
    <p:sldId id="348" r:id="rId17"/>
    <p:sldId id="349" r:id="rId18"/>
    <p:sldId id="350" r:id="rId19"/>
    <p:sldId id="352" r:id="rId20"/>
    <p:sldId id="353" r:id="rId21"/>
    <p:sldId id="354" r:id="rId22"/>
    <p:sldId id="355" r:id="rId23"/>
    <p:sldId id="356" r:id="rId24"/>
    <p:sldId id="358" r:id="rId25"/>
    <p:sldId id="359" r:id="rId26"/>
    <p:sldId id="360" r:id="rId27"/>
    <p:sldId id="361" r:id="rId28"/>
    <p:sldId id="362" r:id="rId29"/>
    <p:sldId id="363" r:id="rId30"/>
    <p:sldId id="333" r:id="rId31"/>
    <p:sldId id="311" r:id="rId32"/>
    <p:sldId id="312" r:id="rId33"/>
    <p:sldId id="296" r:id="rId34"/>
    <p:sldId id="373" r:id="rId35"/>
    <p:sldId id="319" r:id="rId36"/>
    <p:sldId id="374" r:id="rId37"/>
    <p:sldId id="305" r:id="rId38"/>
    <p:sldId id="37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59B17-FE19-4061-A896-A0A3E5921C4D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A877B-3FAE-480A-8894-CA6F2AD36C3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34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E70F5-8272-1E87-81BE-B8C79F00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EF771E2-90C1-680F-B18D-DA76EC9AB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E81C791-8F0D-6178-AF15-4B75B5A96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CAA93F-FDA4-5BB8-B61B-632ADF499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A877B-3FAE-480A-8894-CA6F2AD36C3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651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65D40-D068-B195-F620-76E4A6463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E0541E7-9815-DD16-0DF8-138667362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0BEEF4F-F517-65B2-45EB-85B89FAEC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747CCE-A4A1-AF30-B995-663146DCA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A877B-3FAE-480A-8894-CA6F2AD36C3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8384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F2BF5-6FEC-3D12-9EE4-40962057C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FD1789F-EB74-312E-9A27-3C6B249AB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2D43939-F849-7229-5052-CF0F4F08D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E3AEF4-2912-33EF-6B5F-6E7F7C9D7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A877B-3FAE-480A-8894-CA6F2AD36C3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460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E70F5-8272-1E87-81BE-B8C79F00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EF771E2-90C1-680F-B18D-DA76EC9AB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E81C791-8F0D-6178-AF15-4B75B5A96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CAA93F-FDA4-5BB8-B61B-632ADF499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A877B-3FAE-480A-8894-CA6F2AD36C3F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651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9CF551-5F5E-13D8-20F8-3C7C34902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671DAF7-41A0-A742-D4A1-951E04FF4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D29D37-4C02-3136-7DC6-AB97BA9FC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DA479C-F0D4-520A-2DB9-C4B2AA70C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C594A9-73F8-5D16-CF4A-4F2A73D3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78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F65945-AD9A-B787-FBB0-9E191C725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B04708-E7DD-85A6-C0BC-2C13D24E4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5C450E-B3D0-E316-7D12-86321A508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621C79-1B8D-073C-542A-7C86D4A8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C8F6B2-6EB2-66CC-F3A7-B072AFC2F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78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4448F3-8656-CB88-B6A4-0632D5493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998482-48C4-7CB9-707A-6AC0EB9AD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A6B7A8-BB2C-EAED-EBA5-07B9047E6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070D48-2922-3AE7-D740-06860AA52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AE739F-E9A6-0126-A269-FE802A71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80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9AD8DD-3541-A7DA-C1BA-0F01C2745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4FA0F3-1B5D-3835-C029-FD6796A94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E5A22A8-7DFC-6CC1-4CF6-13C89B0CA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B16C77-76F0-DA6A-3B13-10E1633E2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ADF033-329E-1844-02C5-8F219066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6C26D3-9D59-7949-8EB6-DFFE7C97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36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4C3AF0-CD09-0F06-5388-7F5D8041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342410-DECE-E97E-2D41-D2BA6E88C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46FF0A-239E-546B-36D1-C729E9830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7DA8CB-3244-DD92-C95E-217F96C94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68B136C-D86A-E513-E112-C1E61EF70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FCC5596-72C6-1B94-92A0-479B8D99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A681E31-339F-F161-AB18-2B8BF5B7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16181FB-7E96-0E34-5030-984C9282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480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3A81-8F90-1AF0-CB11-4599BE649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0EB8135-4DA6-EC2C-1823-6A3A4425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C3D307-EC5B-8D33-19D4-E8EDC451F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11F272C-F8F8-0297-A410-61F43ABC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75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32B6BCA-0E75-EF77-50B1-2B9BFC297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3DC4ABB-3543-AE5E-8FE3-334F27A25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04B6B4-2A91-20B5-7F81-4E333AB73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056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CAD3EF-1114-2BD4-FD30-74EB14A0A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47EB46-447C-7F24-EC36-6265BC837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CA3F3C-067E-4F4D-762B-3D5F8CB79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8ACFC5F-A1C2-1B78-928E-33685D45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7FE8D3-F746-AA15-F3CB-14099926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18F330-8BBD-4C53-E304-34D10D8E3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27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C21E86-68FC-7B09-2DDB-BB32BF6B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19E451A-F9D1-142C-A061-E0DEC658F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B8D032-5181-844B-8DEF-CE69F1033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655E54-519B-079F-8538-CDF12F57D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EADAF3-3ED0-52E9-106A-B6E8EAD1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C7690E-6B72-8B97-EBE0-6F718572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741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CE3620-1176-BD41-43FA-2B139002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E790570-1AF0-86E6-B617-4898881A7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A6DF1B-932E-481A-5105-9D6CF3C0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C59F70-0C27-54AE-A02E-80AB719C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511759-8FC2-60A7-D7C5-232BEA25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238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7F9F2EC-5253-43C8-071A-714A0D27E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D3B4CF-CC99-B7DF-1A7D-FD23C4240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3BCD8E-01C5-E375-91B6-56D019A7D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146CA-F57F-4676-A44C-1C021EE9C050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2F7EFD-7242-00DF-197A-4C1148F6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0003B3-C374-9BF6-4138-B3E85D87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4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BA41414-9BF1-B1DD-5741-8E74103D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704C72-A0DD-82A4-3DAD-EFD88503D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4741D6-14C0-762F-34FB-E0BD40983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146CA-F57F-4676-A44C-1C021EE9C050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9C1E3B-34B8-95EF-8A32-637B99642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408F4E-5573-AF94-4CA6-BFE120C5A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4B02DE-D3D6-44FB-B24B-E9BB023A018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302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10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02A94-07D8-D039-0D27-2C4DD96ED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BA762A-4363-5DE6-A0A8-A65003FC4B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Title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EBFDCD1-6DE4-A73A-D3AC-8DC017BFC8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FD78FB7-9829-5A7C-9C48-F67CC074F02E}"/>
              </a:ext>
            </a:extLst>
          </p:cNvPr>
          <p:cNvSpPr/>
          <p:nvPr/>
        </p:nvSpPr>
        <p:spPr>
          <a:xfrm>
            <a:off x="216307" y="255636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FEA8F76-7ED6-8A3E-783A-1DCD405AC665}"/>
              </a:ext>
            </a:extLst>
          </p:cNvPr>
          <p:cNvSpPr/>
          <p:nvPr/>
        </p:nvSpPr>
        <p:spPr>
          <a:xfrm>
            <a:off x="3431622" y="1122363"/>
            <a:ext cx="5328756" cy="15393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>
                <a:solidFill>
                  <a:schemeClr val="tx1"/>
                </a:solidFill>
              </a:rPr>
              <a:t>Genetic load in </a:t>
            </a:r>
          </a:p>
          <a:p>
            <a:pPr algn="ctr"/>
            <a:r>
              <a:rPr lang="de-DE" sz="3200" b="1" i="1">
                <a:solidFill>
                  <a:schemeClr val="tx1"/>
                </a:solidFill>
              </a:rPr>
              <a:t>Drosophila melanogaster</a:t>
            </a:r>
            <a:endParaRPr lang="en-GB" sz="3200" i="1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EEA0099-8192-D852-FB28-E6C9653EC352}"/>
              </a:ext>
            </a:extLst>
          </p:cNvPr>
          <p:cNvSpPr/>
          <p:nvPr/>
        </p:nvSpPr>
        <p:spPr>
          <a:xfrm>
            <a:off x="3593772" y="3429000"/>
            <a:ext cx="5004455" cy="13593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Biology internship in M.Sc. Appl. Bioinformatics,</a:t>
            </a: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under the supervision of Dr. Tom Keaney,</a:t>
            </a: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by Benni Winkler 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CA89F74-F402-075F-6228-74FC9C35056A}"/>
              </a:ext>
            </a:extLst>
          </p:cNvPr>
          <p:cNvSpPr/>
          <p:nvPr/>
        </p:nvSpPr>
        <p:spPr>
          <a:xfrm>
            <a:off x="5341394" y="5082613"/>
            <a:ext cx="1509211" cy="4729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28.08.2026</a:t>
            </a: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093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4"/>
    </mc:Choice>
    <mc:Fallback xmlns="">
      <p:transition spd="slow" advTm="171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28996-A377-87E1-3A55-E4D634980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629E6C-A5DA-1FE4-3470-EA3B5019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7B94E6-ED05-3114-CB3F-1E5D551B9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DB8D7B4-B147-8ECD-F349-D89D773F315A}"/>
              </a:ext>
            </a:extLst>
          </p:cNvPr>
          <p:cNvSpPr/>
          <p:nvPr/>
        </p:nvSpPr>
        <p:spPr>
          <a:xfrm>
            <a:off x="216307" y="196644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31E7F53-D252-37C7-A05C-63712562B34A}"/>
              </a:ext>
            </a:extLst>
          </p:cNvPr>
          <p:cNvSpPr/>
          <p:nvPr/>
        </p:nvSpPr>
        <p:spPr>
          <a:xfrm>
            <a:off x="216307" y="196644"/>
            <a:ext cx="3451125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Metaphorical selective sieve</a:t>
            </a:r>
            <a:r>
              <a:rPr lang="de-DE" b="1" baseline="30000">
                <a:solidFill>
                  <a:schemeClr val="tx1"/>
                </a:solidFill>
              </a:rPr>
              <a:t>[1]</a:t>
            </a:r>
            <a:r>
              <a:rPr lang="de-DE" b="1">
                <a:solidFill>
                  <a:schemeClr val="tx1"/>
                </a:solidFill>
              </a:rPr>
              <a:t> </a:t>
            </a:r>
            <a:endParaRPr lang="en-GB" b="1" baseline="30000">
              <a:solidFill>
                <a:schemeClr val="tx1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3F728E08-0480-8508-8B9F-FFE3FC60DA40}"/>
              </a:ext>
            </a:extLst>
          </p:cNvPr>
          <p:cNvSpPr/>
          <p:nvPr/>
        </p:nvSpPr>
        <p:spPr>
          <a:xfrm>
            <a:off x="216307" y="5988213"/>
            <a:ext cx="11769216" cy="65086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[1] </a:t>
            </a:r>
            <a:r>
              <a:rPr lang="en-GB" sz="1000">
                <a:solidFill>
                  <a:schemeClr val="tx1"/>
                </a:solidFill>
              </a:rPr>
              <a:t>Frank, S. A. (2012). Evolution: Mitochondrial Burden on Male Health. Current Biology, 22(18), R797–R799. https://doi.org/10.1016/j.cub.2012.07.066</a:t>
            </a:r>
          </a:p>
          <a:p>
            <a:r>
              <a:rPr lang="en-GB" sz="1000" b="1">
                <a:solidFill>
                  <a:schemeClr val="tx1"/>
                </a:solidFill>
              </a:rPr>
              <a:t>[2] </a:t>
            </a:r>
            <a:r>
              <a:rPr lang="en-GB" sz="1000">
                <a:solidFill>
                  <a:schemeClr val="tx1"/>
                </a:solidFill>
              </a:rPr>
              <a:t>Kimura, M. (1968). Evolutionary Rate at the Molecular Level. Nature, 217(5129), 624–626. https://doi.org/10.1038/217624a0  </a:t>
            </a:r>
          </a:p>
          <a:p>
            <a:r>
              <a:rPr lang="en-GB" sz="1000" b="1">
                <a:solidFill>
                  <a:schemeClr val="tx1"/>
                </a:solidFill>
              </a:rPr>
              <a:t>[3]</a:t>
            </a:r>
            <a:r>
              <a:rPr lang="en-GB" sz="1000">
                <a:solidFill>
                  <a:schemeClr val="tx1"/>
                </a:solidFill>
              </a:rPr>
              <a:t> Ohta, T. (1992). The Nearly Neutral Theory of Molecular Evolution. Annual Review of Ecology and Systematics, 23, 263–286. </a:t>
            </a:r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 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20619CA-52BE-1233-92BC-AB069190DF59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06CC11EA-19DF-FBA1-56B6-C37E3F9B95BF}"/>
              </a:ext>
            </a:extLst>
          </p:cNvPr>
          <p:cNvSpPr/>
          <p:nvPr/>
        </p:nvSpPr>
        <p:spPr>
          <a:xfrm>
            <a:off x="4687018" y="4516185"/>
            <a:ext cx="412955" cy="41295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EDB1ACA8-73D1-C697-7EA4-DB7B37BF249C}"/>
              </a:ext>
            </a:extLst>
          </p:cNvPr>
          <p:cNvGrpSpPr/>
          <p:nvPr/>
        </p:nvGrpSpPr>
        <p:grpSpPr>
          <a:xfrm>
            <a:off x="8409849" y="1552116"/>
            <a:ext cx="2140466" cy="2689884"/>
            <a:chOff x="9507794" y="1995949"/>
            <a:chExt cx="2140466" cy="2689884"/>
          </a:xfrm>
        </p:grpSpPr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1BCCA5B5-8DCD-4797-87E0-327320024320}"/>
                </a:ext>
              </a:extLst>
            </p:cNvPr>
            <p:cNvSpPr/>
            <p:nvPr/>
          </p:nvSpPr>
          <p:spPr>
            <a:xfrm>
              <a:off x="9507794" y="1995949"/>
              <a:ext cx="2140466" cy="2689884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250000"/>
                </a:lnSpc>
              </a:pPr>
              <a:r>
                <a:rPr lang="de-DE" b="1">
                  <a:ln w="0"/>
                  <a:solidFill>
                    <a:schemeClr val="tx1"/>
                  </a:solidFill>
                </a:rPr>
                <a:t>Mutations:</a:t>
              </a:r>
            </a:p>
            <a:p>
              <a:endParaRPr lang="de-DE">
                <a:ln w="0"/>
                <a:solidFill>
                  <a:schemeClr val="tx1"/>
                </a:solidFill>
              </a:endParaRPr>
            </a:p>
            <a:p>
              <a:r>
                <a:rPr lang="de-DE">
                  <a:ln w="0"/>
                  <a:solidFill>
                    <a:schemeClr val="tx1"/>
                  </a:solidFill>
                </a:rPr>
                <a:t>                Beneficial</a:t>
              </a:r>
            </a:p>
            <a:p>
              <a:endParaRPr lang="de-DE">
                <a:ln w="0"/>
                <a:solidFill>
                  <a:schemeClr val="tx1"/>
                </a:solidFill>
              </a:endParaRPr>
            </a:p>
            <a:p>
              <a:r>
                <a:rPr lang="de-DE">
                  <a:ln w="0"/>
                  <a:solidFill>
                    <a:schemeClr val="tx1"/>
                  </a:solidFill>
                </a:rPr>
                <a:t>                Deleterious</a:t>
              </a:r>
            </a:p>
            <a:p>
              <a:endParaRPr lang="de-DE">
                <a:ln w="0"/>
                <a:solidFill>
                  <a:schemeClr val="tx1"/>
                </a:solidFill>
              </a:endParaRPr>
            </a:p>
            <a:p>
              <a:r>
                <a:rPr lang="de-DE">
                  <a:ln w="0"/>
                  <a:solidFill>
                    <a:schemeClr val="tx1"/>
                  </a:solidFill>
                </a:rPr>
                <a:t>                 (Nearly) </a:t>
              </a:r>
            </a:p>
            <a:p>
              <a:r>
                <a:rPr lang="de-DE">
                  <a:ln w="0"/>
                  <a:solidFill>
                    <a:schemeClr val="tx1"/>
                  </a:solidFill>
                </a:rPr>
                <a:t>                  neutral </a:t>
              </a:r>
              <a:r>
                <a:rPr lang="de-DE" b="1" baseline="30000">
                  <a:solidFill>
                    <a:schemeClr val="tx1"/>
                  </a:solidFill>
                </a:rPr>
                <a:t>[2, 3]</a:t>
              </a:r>
              <a:r>
                <a:rPr lang="de-DE" b="1">
                  <a:ln w="0"/>
                  <a:solidFill>
                    <a:schemeClr val="tx1"/>
                  </a:solidFill>
                </a:rPr>
                <a:t> </a:t>
              </a:r>
              <a:endParaRPr lang="de-DE">
                <a:ln w="0"/>
                <a:solidFill>
                  <a:schemeClr val="tx1"/>
                </a:solidFill>
              </a:endParaRPr>
            </a:p>
            <a:p>
              <a:pPr algn="ctr"/>
              <a:endParaRPr lang="de-DE">
                <a:ln w="0"/>
                <a:solidFill>
                  <a:schemeClr val="tx1"/>
                </a:solidFill>
              </a:endParaRPr>
            </a:p>
            <a:p>
              <a:pPr algn="ctr"/>
              <a:endParaRPr lang="en-GB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07E8D39F-CF2B-0D7B-B6B1-85B751D92820}"/>
                </a:ext>
              </a:extLst>
            </p:cNvPr>
            <p:cNvSpPr/>
            <p:nvPr/>
          </p:nvSpPr>
          <p:spPr>
            <a:xfrm>
              <a:off x="9686352" y="2626857"/>
              <a:ext cx="412955" cy="41295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0F85686B-5815-E026-77B7-C236EAD8A341}"/>
                </a:ext>
              </a:extLst>
            </p:cNvPr>
            <p:cNvSpPr/>
            <p:nvPr/>
          </p:nvSpPr>
          <p:spPr>
            <a:xfrm>
              <a:off x="9686352" y="3228117"/>
              <a:ext cx="412955" cy="41295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0DB1AF23-FA4E-0B74-FB37-E89007D215F0}"/>
                </a:ext>
              </a:extLst>
            </p:cNvPr>
            <p:cNvSpPr/>
            <p:nvPr/>
          </p:nvSpPr>
          <p:spPr>
            <a:xfrm>
              <a:off x="9771410" y="3910831"/>
              <a:ext cx="242837" cy="24330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738DBDC0-C349-2E64-18E2-F01886AE04E6}"/>
              </a:ext>
            </a:extLst>
          </p:cNvPr>
          <p:cNvGrpSpPr/>
          <p:nvPr/>
        </p:nvGrpSpPr>
        <p:grpSpPr>
          <a:xfrm>
            <a:off x="2091198" y="1008639"/>
            <a:ext cx="5380186" cy="4892464"/>
            <a:chOff x="3748553" y="985567"/>
            <a:chExt cx="5380186" cy="48924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DC9E67EF-AE89-04BA-4706-1F8CFFA1E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48553" y="985567"/>
              <a:ext cx="5380186" cy="4892464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05EF6179-F366-382F-EE6F-0938E2B132B2}"/>
                </a:ext>
              </a:extLst>
            </p:cNvPr>
            <p:cNvSpPr/>
            <p:nvPr/>
          </p:nvSpPr>
          <p:spPr>
            <a:xfrm>
              <a:off x="5367905" y="2570076"/>
              <a:ext cx="412955" cy="41295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8E596BF0-BF9C-9149-8360-4DFE721CC23C}"/>
                </a:ext>
              </a:extLst>
            </p:cNvPr>
            <p:cNvSpPr/>
            <p:nvPr/>
          </p:nvSpPr>
          <p:spPr>
            <a:xfrm>
              <a:off x="4687018" y="3054657"/>
              <a:ext cx="412955" cy="41295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2B5E1417-E931-AFA3-CAFB-DC9A33E53D7D}"/>
                </a:ext>
              </a:extLst>
            </p:cNvPr>
            <p:cNvSpPr/>
            <p:nvPr/>
          </p:nvSpPr>
          <p:spPr>
            <a:xfrm>
              <a:off x="5394433" y="3284654"/>
              <a:ext cx="412955" cy="41295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8A028FD8-CB29-4F7D-70E4-EC4702E5FA62}"/>
                </a:ext>
              </a:extLst>
            </p:cNvPr>
            <p:cNvSpPr/>
            <p:nvPr/>
          </p:nvSpPr>
          <p:spPr>
            <a:xfrm>
              <a:off x="6046787" y="3044484"/>
              <a:ext cx="412955" cy="41295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2DCE4402-F5FD-82D4-C736-6D3A3D5C070F}"/>
                </a:ext>
              </a:extLst>
            </p:cNvPr>
            <p:cNvSpPr/>
            <p:nvPr/>
          </p:nvSpPr>
          <p:spPr>
            <a:xfrm>
              <a:off x="5246486" y="4929140"/>
              <a:ext cx="242837" cy="24330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4155FCE9-6A3C-EA81-9DAD-32010B563353}"/>
                </a:ext>
              </a:extLst>
            </p:cNvPr>
            <p:cNvSpPr/>
            <p:nvPr/>
          </p:nvSpPr>
          <p:spPr>
            <a:xfrm>
              <a:off x="5683766" y="4685832"/>
              <a:ext cx="242837" cy="24330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2082BE23-8FA7-69FF-6C87-576738F0F493}"/>
                </a:ext>
              </a:extLst>
            </p:cNvPr>
            <p:cNvSpPr/>
            <p:nvPr/>
          </p:nvSpPr>
          <p:spPr>
            <a:xfrm>
              <a:off x="4650658" y="5092620"/>
              <a:ext cx="242837" cy="24330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93DFC809-712B-9993-1B4A-FF40CBF8267A}"/>
                </a:ext>
              </a:extLst>
            </p:cNvPr>
            <p:cNvSpPr/>
            <p:nvPr/>
          </p:nvSpPr>
          <p:spPr>
            <a:xfrm>
              <a:off x="5674181" y="5139963"/>
              <a:ext cx="242837" cy="24330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0AA22043-08AF-A649-BB02-7D5DACF70E50}"/>
                </a:ext>
              </a:extLst>
            </p:cNvPr>
            <p:cNvSpPr/>
            <p:nvPr/>
          </p:nvSpPr>
          <p:spPr>
            <a:xfrm>
              <a:off x="4998979" y="5335928"/>
              <a:ext cx="242837" cy="24330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0FF205A4-F387-A1DD-6EB6-CC089C0B6449}"/>
                </a:ext>
              </a:extLst>
            </p:cNvPr>
            <p:cNvSpPr/>
            <p:nvPr/>
          </p:nvSpPr>
          <p:spPr>
            <a:xfrm>
              <a:off x="6274151" y="4970966"/>
              <a:ext cx="242837" cy="24330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AECCEE7-F259-2DF3-10B1-B7A6C9BE2CA4}"/>
                </a:ext>
              </a:extLst>
            </p:cNvPr>
            <p:cNvSpPr txBox="1"/>
            <p:nvPr/>
          </p:nvSpPr>
          <p:spPr>
            <a:xfrm>
              <a:off x="4473677" y="1465006"/>
              <a:ext cx="1651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i="1"/>
                <a:t>Selective sieve</a:t>
              </a:r>
              <a:endParaRPr lang="en-GB" i="1"/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6F39037D-E214-0EF8-70EB-C6B7A8A4DA19}"/>
                </a:ext>
              </a:extLst>
            </p:cNvPr>
            <p:cNvSpPr/>
            <p:nvPr/>
          </p:nvSpPr>
          <p:spPr>
            <a:xfrm>
              <a:off x="6022502" y="5349617"/>
              <a:ext cx="412955" cy="41295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Ellipse 4">
            <a:extLst>
              <a:ext uri="{FF2B5EF4-FFF2-40B4-BE49-F238E27FC236}">
                <a16:creationId xmlns:a16="http://schemas.microsoft.com/office/drawing/2014/main" id="{7D920336-7E51-C6F2-74AC-F750D2F86FDD}"/>
              </a:ext>
            </a:extLst>
          </p:cNvPr>
          <p:cNvSpPr/>
          <p:nvPr/>
        </p:nvSpPr>
        <p:spPr>
          <a:xfrm>
            <a:off x="2976146" y="4522931"/>
            <a:ext cx="412955" cy="41295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1B604E5-956E-BD03-B9AA-D512481E2665}"/>
              </a:ext>
            </a:extLst>
          </p:cNvPr>
          <p:cNvSpPr/>
          <p:nvPr/>
        </p:nvSpPr>
        <p:spPr>
          <a:xfrm>
            <a:off x="4595909" y="4446396"/>
            <a:ext cx="412955" cy="4129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717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8"/>
    </mc:Choice>
    <mc:Fallback xmlns="">
      <p:transition spd="slow" advTm="49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431AE-F566-5638-23F8-87CE1EB99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8882FC-18D4-5AEA-AAFE-42DEFE0C4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ABD563-DD51-8C7A-7C8C-512A0C2EB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EBFF61A-C845-BB93-0FF0-E3824B508926}"/>
              </a:ext>
            </a:extLst>
          </p:cNvPr>
          <p:cNvSpPr/>
          <p:nvPr/>
        </p:nvSpPr>
        <p:spPr>
          <a:xfrm>
            <a:off x="216307" y="196644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35BAF25-03A7-1A90-194D-B737BA148E4C}"/>
              </a:ext>
            </a:extLst>
          </p:cNvPr>
          <p:cNvSpPr/>
          <p:nvPr/>
        </p:nvSpPr>
        <p:spPr>
          <a:xfrm>
            <a:off x="216308" y="196644"/>
            <a:ext cx="3854247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Impact of deleterious mutations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9033335-3AD9-1228-E457-DB8CA563E809}"/>
              </a:ext>
            </a:extLst>
          </p:cNvPr>
          <p:cNvSpPr/>
          <p:nvPr/>
        </p:nvSpPr>
        <p:spPr>
          <a:xfrm>
            <a:off x="216307" y="6017135"/>
            <a:ext cx="11769216" cy="62194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[4] </a:t>
            </a:r>
            <a:r>
              <a:rPr lang="en-GB" sz="1000">
                <a:solidFill>
                  <a:schemeClr val="tx1"/>
                </a:solidFill>
              </a:rPr>
              <a:t>Agrawal, A. F., &amp; Whitlock, M. C. (2012). Mutation Load: The Fitness of Individuals in Populations Where Deleterious Alleles Are Abundant. Annual Review of Ecology, Evolution, and Systematics, 43, 115–135. https://doi.org/10.1146/annurev-ecolsys-110411-160257 </a:t>
            </a:r>
          </a:p>
          <a:p>
            <a:r>
              <a:rPr lang="en-GB" sz="1000" b="1">
                <a:solidFill>
                  <a:schemeClr val="tx1"/>
                </a:solidFill>
              </a:rPr>
              <a:t>[5] </a:t>
            </a:r>
            <a:r>
              <a:rPr lang="en-GB" sz="1000">
                <a:solidFill>
                  <a:schemeClr val="tx1"/>
                </a:solidFill>
              </a:rPr>
              <a:t>Haldane, J. B. S. (1937). The Effect of Variation on Fitness. The American Naturalist, 71(735), 337–349. 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A368285-4863-3213-D63D-BD151757C69E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2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733B095-B67F-DE30-B656-E23A8576A47E}"/>
              </a:ext>
            </a:extLst>
          </p:cNvPr>
          <p:cNvSpPr/>
          <p:nvPr/>
        </p:nvSpPr>
        <p:spPr>
          <a:xfrm>
            <a:off x="5394222" y="2491843"/>
            <a:ext cx="1403556" cy="6563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>
                <a:solidFill>
                  <a:schemeClr val="tx1"/>
                </a:solidFill>
              </a:rPr>
              <a:t>L = 1 - e</a:t>
            </a:r>
            <a:r>
              <a:rPr lang="en-GB" baseline="30000">
                <a:solidFill>
                  <a:schemeClr val="tx1"/>
                </a:solidFill>
              </a:rPr>
              <a:t>-U</a:t>
            </a:r>
            <a:r>
              <a:rPr lang="en-GB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8C5AC8C-3054-E9AA-D2E6-5D5F860299BD}"/>
              </a:ext>
            </a:extLst>
          </p:cNvPr>
          <p:cNvSpPr/>
          <p:nvPr/>
        </p:nvSpPr>
        <p:spPr>
          <a:xfrm>
            <a:off x="3211461" y="3616102"/>
            <a:ext cx="5401597" cy="17768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GB">
                <a:solidFill>
                  <a:schemeClr val="tx1"/>
                </a:solidFill>
              </a:rPr>
              <a:t>   If as much as one deleterious mutation enters a </a:t>
            </a:r>
          </a:p>
          <a:p>
            <a:pPr algn="just">
              <a:lnSpc>
                <a:spcPct val="150000"/>
              </a:lnSpc>
            </a:pPr>
            <a:r>
              <a:rPr lang="en-GB">
                <a:solidFill>
                  <a:schemeClr val="tx1"/>
                </a:solidFill>
              </a:rPr>
              <a:t>   population per generation and individual, the mean  </a:t>
            </a:r>
          </a:p>
          <a:p>
            <a:pPr algn="just">
              <a:lnSpc>
                <a:spcPct val="150000"/>
              </a:lnSpc>
            </a:pPr>
            <a:r>
              <a:rPr lang="en-GB">
                <a:solidFill>
                  <a:schemeClr val="tx1"/>
                </a:solidFill>
              </a:rPr>
              <a:t>   fitness is ~ 37 % lower compared to a mutation-free </a:t>
            </a:r>
          </a:p>
          <a:p>
            <a:pPr algn="just">
              <a:lnSpc>
                <a:spcPct val="150000"/>
              </a:lnSpc>
            </a:pPr>
            <a:r>
              <a:rPr lang="en-GB">
                <a:solidFill>
                  <a:schemeClr val="tx1"/>
                </a:solidFill>
              </a:rPr>
              <a:t>  equivalent system </a:t>
            </a:r>
            <a:r>
              <a:rPr lang="en-GB" baseline="30000">
                <a:solidFill>
                  <a:schemeClr val="tx1"/>
                </a:solidFill>
              </a:rPr>
              <a:t>[5]</a:t>
            </a: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Pfeil: Chevron 17">
            <a:extLst>
              <a:ext uri="{FF2B5EF4-FFF2-40B4-BE49-F238E27FC236}">
                <a16:creationId xmlns:a16="http://schemas.microsoft.com/office/drawing/2014/main" id="{358F971A-37EB-1C84-B3D5-EF5586D8609E}"/>
              </a:ext>
            </a:extLst>
          </p:cNvPr>
          <p:cNvSpPr/>
          <p:nvPr/>
        </p:nvSpPr>
        <p:spPr>
          <a:xfrm>
            <a:off x="3078724" y="4262232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E3AF8A6-A4BF-C0E3-71F8-DF7A99F83D2D}"/>
              </a:ext>
            </a:extLst>
          </p:cNvPr>
          <p:cNvSpPr/>
          <p:nvPr/>
        </p:nvSpPr>
        <p:spPr>
          <a:xfrm>
            <a:off x="2262648" y="1415595"/>
            <a:ext cx="7666704" cy="6219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GB">
                <a:solidFill>
                  <a:schemeClr val="tx1"/>
                </a:solidFill>
              </a:rPr>
              <a:t>   Deleterious mutations occur but how big is their impact? </a:t>
            </a:r>
            <a:r>
              <a:rPr lang="en-GB" baseline="30000">
                <a:solidFill>
                  <a:schemeClr val="tx1"/>
                </a:solidFill>
              </a:rPr>
              <a:t>[4]</a:t>
            </a: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Pfeil: Chevron 15">
            <a:extLst>
              <a:ext uri="{FF2B5EF4-FFF2-40B4-BE49-F238E27FC236}">
                <a16:creationId xmlns:a16="http://schemas.microsoft.com/office/drawing/2014/main" id="{7F1BEDDF-8987-ACE2-BB27-5A9E9878D14D}"/>
              </a:ext>
            </a:extLst>
          </p:cNvPr>
          <p:cNvSpPr/>
          <p:nvPr/>
        </p:nvSpPr>
        <p:spPr>
          <a:xfrm>
            <a:off x="2129911" y="1492105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76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251"/>
    </mc:Choice>
    <mc:Fallback xmlns="">
      <p:transition spd="slow" advTm="4725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D114D-8D3B-6B93-C4B5-484329161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3C5ED2-6DBA-EA39-0811-0C7E381C4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526A11-357D-AC3A-545C-7CF38C1CA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80E0F58-DDE8-4C2F-FB00-A1E0F081B83F}"/>
              </a:ext>
            </a:extLst>
          </p:cNvPr>
          <p:cNvSpPr/>
          <p:nvPr/>
        </p:nvSpPr>
        <p:spPr>
          <a:xfrm>
            <a:off x="216307" y="196644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DE82747-D4CA-DD59-25AE-C2DCC85DA1C8}"/>
              </a:ext>
            </a:extLst>
          </p:cNvPr>
          <p:cNvSpPr/>
          <p:nvPr/>
        </p:nvSpPr>
        <p:spPr>
          <a:xfrm>
            <a:off x="216309" y="196644"/>
            <a:ext cx="1170040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Caveats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3BE96D23-9F26-C09B-98BE-0BBA22CA6645}"/>
              </a:ext>
            </a:extLst>
          </p:cNvPr>
          <p:cNvSpPr/>
          <p:nvPr/>
        </p:nvSpPr>
        <p:spPr>
          <a:xfrm>
            <a:off x="216307" y="6164523"/>
            <a:ext cx="11769216" cy="47456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[6] </a:t>
            </a:r>
            <a:r>
              <a:rPr lang="en-GB" sz="1000">
                <a:solidFill>
                  <a:schemeClr val="tx1"/>
                </a:solidFill>
              </a:rPr>
              <a:t>Mylius, S. D., &amp; Diekmann, O. (1995). On Evolutionarily Stable Life Histories, Optimization and the Need to Be Specific about Density Dependence. Oikos, 74(2), 218–224. https://doi.org/10.2307/3545651 </a:t>
            </a: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367836A-459B-4EA4-7837-B69E5BCE553A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3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8D4080F-02A8-FCFC-93A6-2B41650E33AE}"/>
              </a:ext>
            </a:extLst>
          </p:cNvPr>
          <p:cNvSpPr/>
          <p:nvPr/>
        </p:nvSpPr>
        <p:spPr>
          <a:xfrm>
            <a:off x="5394222" y="1415348"/>
            <a:ext cx="1403556" cy="6563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>
                <a:solidFill>
                  <a:schemeClr val="tx1"/>
                </a:solidFill>
              </a:rPr>
              <a:t>L = 1 - e</a:t>
            </a:r>
            <a:r>
              <a:rPr lang="en-GB" baseline="30000">
                <a:solidFill>
                  <a:schemeClr val="tx1"/>
                </a:solidFill>
              </a:rPr>
              <a:t>-U</a:t>
            </a:r>
            <a:r>
              <a:rPr lang="en-GB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C67A593-B578-273B-517D-E1BB5EB39C68}"/>
              </a:ext>
            </a:extLst>
          </p:cNvPr>
          <p:cNvSpPr/>
          <p:nvPr/>
        </p:nvSpPr>
        <p:spPr>
          <a:xfrm>
            <a:off x="4196532" y="2448234"/>
            <a:ext cx="3275986" cy="48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250000"/>
              </a:lnSpc>
            </a:pPr>
            <a:r>
              <a:rPr lang="en-GB">
                <a:solidFill>
                  <a:schemeClr val="tx1"/>
                </a:solidFill>
              </a:rPr>
              <a:t>    Relies only on mutation rate</a:t>
            </a:r>
            <a:endParaRPr lang="en-GB" baseline="30000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Pfeil: Chevron 17">
            <a:extLst>
              <a:ext uri="{FF2B5EF4-FFF2-40B4-BE49-F238E27FC236}">
                <a16:creationId xmlns:a16="http://schemas.microsoft.com/office/drawing/2014/main" id="{740C1B5D-F4BD-396E-BD7D-343075A84904}"/>
              </a:ext>
            </a:extLst>
          </p:cNvPr>
          <p:cNvSpPr/>
          <p:nvPr/>
        </p:nvSpPr>
        <p:spPr>
          <a:xfrm>
            <a:off x="4063794" y="2448235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B6E938-6A65-000C-40DC-F3297A429E39}"/>
              </a:ext>
            </a:extLst>
          </p:cNvPr>
          <p:cNvSpPr/>
          <p:nvPr/>
        </p:nvSpPr>
        <p:spPr>
          <a:xfrm>
            <a:off x="4196531" y="3218001"/>
            <a:ext cx="5694721" cy="48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250000"/>
              </a:lnSpc>
            </a:pPr>
            <a:r>
              <a:rPr lang="en-GB">
                <a:solidFill>
                  <a:schemeClr val="tx1"/>
                </a:solidFill>
              </a:rPr>
              <a:t>    Ignores ecological context like density dependence </a:t>
            </a:r>
            <a:r>
              <a:rPr lang="en-GB" baseline="30000">
                <a:solidFill>
                  <a:schemeClr val="tx1"/>
                </a:solidFill>
              </a:rPr>
              <a:t>[6]</a:t>
            </a: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Pfeil: Chevron 9">
            <a:extLst>
              <a:ext uri="{FF2B5EF4-FFF2-40B4-BE49-F238E27FC236}">
                <a16:creationId xmlns:a16="http://schemas.microsoft.com/office/drawing/2014/main" id="{B4B4CE00-B526-CEA2-92AD-3062DD2A7A03}"/>
              </a:ext>
            </a:extLst>
          </p:cNvPr>
          <p:cNvSpPr/>
          <p:nvPr/>
        </p:nvSpPr>
        <p:spPr>
          <a:xfrm>
            <a:off x="4063793" y="3218002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533E1D0-9139-BC6B-44A0-52EA22837265}"/>
              </a:ext>
            </a:extLst>
          </p:cNvPr>
          <p:cNvSpPr/>
          <p:nvPr/>
        </p:nvSpPr>
        <p:spPr>
          <a:xfrm>
            <a:off x="4196529" y="3987768"/>
            <a:ext cx="5694722" cy="9832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GB">
                <a:solidFill>
                  <a:schemeClr val="tx1"/>
                </a:solidFill>
              </a:rPr>
              <a:t>    Haldane considered bi-allelic loci present in each  </a:t>
            </a:r>
          </a:p>
          <a:p>
            <a:pPr algn="just">
              <a:lnSpc>
                <a:spcPct val="150000"/>
              </a:lnSpc>
            </a:pPr>
            <a:r>
              <a:rPr lang="en-GB">
                <a:solidFill>
                  <a:schemeClr val="tx1"/>
                </a:solidFill>
              </a:rPr>
              <a:t>     genome in each individual</a:t>
            </a:r>
            <a:endParaRPr lang="en-GB" baseline="30000">
              <a:solidFill>
                <a:schemeClr val="tx1"/>
              </a:solidFill>
            </a:endParaRPr>
          </a:p>
        </p:txBody>
      </p:sp>
      <p:sp>
        <p:nvSpPr>
          <p:cNvPr id="16" name="Pfeil: Chevron 15">
            <a:extLst>
              <a:ext uri="{FF2B5EF4-FFF2-40B4-BE49-F238E27FC236}">
                <a16:creationId xmlns:a16="http://schemas.microsoft.com/office/drawing/2014/main" id="{81F1C5D0-0C9A-EFD8-335D-1585C53696D0}"/>
              </a:ext>
            </a:extLst>
          </p:cNvPr>
          <p:cNvSpPr/>
          <p:nvPr/>
        </p:nvSpPr>
        <p:spPr>
          <a:xfrm>
            <a:off x="4063793" y="4237066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60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25"/>
    </mc:Choice>
    <mc:Fallback xmlns="">
      <p:transition spd="slow" advTm="352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D682-DC9C-5534-8E45-FF6E678CA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AC9DC-B7C1-573A-F013-280C91C0B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0D9FFC-1204-D0D0-0609-28BAF97AE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EA980B3-E509-AC24-19D0-CBF6015AEA55}"/>
              </a:ext>
            </a:extLst>
          </p:cNvPr>
          <p:cNvSpPr/>
          <p:nvPr/>
        </p:nvSpPr>
        <p:spPr>
          <a:xfrm>
            <a:off x="216307" y="194032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/>
              <a:t>         </a:t>
            </a:r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81A7DE0-6F1A-B8CD-C3AB-04EF7D776F92}"/>
              </a:ext>
            </a:extLst>
          </p:cNvPr>
          <p:cNvSpPr/>
          <p:nvPr/>
        </p:nvSpPr>
        <p:spPr>
          <a:xfrm>
            <a:off x="216307" y="196644"/>
            <a:ext cx="6538454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Factors influencing the establishment of (deleterious) alleles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59F0959-0F34-88AA-003D-9EA3BDCFDFB7}"/>
              </a:ext>
            </a:extLst>
          </p:cNvPr>
          <p:cNvSpPr/>
          <p:nvPr/>
        </p:nvSpPr>
        <p:spPr>
          <a:xfrm>
            <a:off x="4376583" y="1452716"/>
            <a:ext cx="3438834" cy="4218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Dominance of alleles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29C220B3-ABA3-1445-CB65-CC91BFB218A9}"/>
              </a:ext>
            </a:extLst>
          </p:cNvPr>
          <p:cNvSpPr/>
          <p:nvPr/>
        </p:nvSpPr>
        <p:spPr>
          <a:xfrm>
            <a:off x="4376583" y="2347722"/>
            <a:ext cx="3607211" cy="10029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endParaRPr lang="de-DE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The chromosome and sex the allele is expressed in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900D736-B0B2-2C6C-315F-11988CE06069}"/>
              </a:ext>
            </a:extLst>
          </p:cNvPr>
          <p:cNvSpPr/>
          <p:nvPr/>
        </p:nvSpPr>
        <p:spPr>
          <a:xfrm>
            <a:off x="216307" y="5997676"/>
            <a:ext cx="11769216" cy="6438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[7] </a:t>
            </a:r>
            <a:r>
              <a:rPr lang="en-GB" sz="1000">
                <a:solidFill>
                  <a:schemeClr val="tx1"/>
                </a:solidFill>
              </a:rPr>
              <a:t>Charlesworth, B., Coyne, J. A., &amp; Barton, N. H. (1987). The Relative Rates of Evolution of Sex Chromosomes and Autosomes. The American Naturalist, 130(1), 113–146.</a:t>
            </a:r>
          </a:p>
          <a:p>
            <a:r>
              <a:rPr lang="en-GB" sz="1000" b="1">
                <a:solidFill>
                  <a:schemeClr val="tx1"/>
                </a:solidFill>
              </a:rPr>
              <a:t>[8] </a:t>
            </a:r>
            <a:r>
              <a:rPr lang="en-GB" sz="1000">
                <a:solidFill>
                  <a:schemeClr val="tx1"/>
                </a:solidFill>
              </a:rPr>
              <a:t>Kaufman, T. C. (2017). A Short History and Description of Drosophila melanogaster Classical Genetics: Chromosome Aberrations, Forward Genetic Screens, and the Nature of Mutations. Genetics, 206(2), 665–689. https://doi.org/10.1534/genetics.117.199950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88E53E9-E97C-30E4-76DE-BE3677252F73}"/>
              </a:ext>
            </a:extLst>
          </p:cNvPr>
          <p:cNvSpPr/>
          <p:nvPr/>
        </p:nvSpPr>
        <p:spPr>
          <a:xfrm>
            <a:off x="4376583" y="3768543"/>
            <a:ext cx="3438834" cy="9514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Theory by: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Charlesworth et al, 1987 </a:t>
            </a:r>
            <a:r>
              <a:rPr lang="de-DE" baseline="30000">
                <a:solidFill>
                  <a:schemeClr val="tx1"/>
                </a:solidFill>
              </a:rPr>
              <a:t>[7]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AEB6A28-7329-6024-AFC3-5F1CE31F90ED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4</a:t>
            </a:r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88D0D33F-64A4-88B2-A419-E5ADA94DF61D}"/>
              </a:ext>
            </a:extLst>
          </p:cNvPr>
          <p:cNvGrpSpPr/>
          <p:nvPr/>
        </p:nvGrpSpPr>
        <p:grpSpPr>
          <a:xfrm>
            <a:off x="7979322" y="1064704"/>
            <a:ext cx="1700980" cy="1239542"/>
            <a:chOff x="8682403" y="2056399"/>
            <a:chExt cx="1700980" cy="1239542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D322A3EF-F839-AF5D-730F-311F0D16E800}"/>
                </a:ext>
              </a:extLst>
            </p:cNvPr>
            <p:cNvSpPr/>
            <p:nvPr/>
          </p:nvSpPr>
          <p:spPr>
            <a:xfrm>
              <a:off x="8682403" y="2811547"/>
              <a:ext cx="1700980" cy="48439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Aa          AA</a:t>
              </a:r>
              <a:endPara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DEF3F8F6-9498-B868-A9A9-BFF99EE5F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963" y="2056399"/>
              <a:ext cx="1332821" cy="86933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6" name="Rechteck 25">
            <a:extLst>
              <a:ext uri="{FF2B5EF4-FFF2-40B4-BE49-F238E27FC236}">
                <a16:creationId xmlns:a16="http://schemas.microsoft.com/office/drawing/2014/main" id="{272FAA94-105E-C7A5-CF88-E20FE9C0E59F}"/>
              </a:ext>
            </a:extLst>
          </p:cNvPr>
          <p:cNvSpPr/>
          <p:nvPr/>
        </p:nvSpPr>
        <p:spPr>
          <a:xfrm>
            <a:off x="8500291" y="4069361"/>
            <a:ext cx="2052823" cy="48439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XX                          XY</a:t>
            </a:r>
            <a:endParaRPr lang="en-GB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EBBBBC9-074C-C175-F15F-B1D5D46503C0}"/>
              </a:ext>
            </a:extLst>
          </p:cNvPr>
          <p:cNvGrpSpPr/>
          <p:nvPr/>
        </p:nvGrpSpPr>
        <p:grpSpPr>
          <a:xfrm>
            <a:off x="8233561" y="2954079"/>
            <a:ext cx="2663314" cy="1227617"/>
            <a:chOff x="8948583" y="3098136"/>
            <a:chExt cx="2276462" cy="9340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742A11BB-6C94-0D42-FB3E-DFB98ED53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9489"/>
            <a:stretch>
              <a:fillRect/>
            </a:stretch>
          </p:blipFill>
          <p:spPr>
            <a:xfrm>
              <a:off x="8948583" y="3117021"/>
              <a:ext cx="1139314" cy="915153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A1120C18-84A4-C68E-F9AC-2EBF5B425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9566"/>
            <a:stretch>
              <a:fillRect/>
            </a:stretch>
          </p:blipFill>
          <p:spPr>
            <a:xfrm>
              <a:off x="10087897" y="3098136"/>
              <a:ext cx="1137148" cy="915153"/>
            </a:xfrm>
            <a:prstGeom prst="rect">
              <a:avLst/>
            </a:prstGeom>
          </p:spPr>
        </p:pic>
      </p:grpSp>
      <p:sp>
        <p:nvSpPr>
          <p:cNvPr id="15" name="Pfeil: Chevron 14">
            <a:extLst>
              <a:ext uri="{FF2B5EF4-FFF2-40B4-BE49-F238E27FC236}">
                <a16:creationId xmlns:a16="http://schemas.microsoft.com/office/drawing/2014/main" id="{089D0AD1-867F-109C-871D-8AA1A3B7C28B}"/>
              </a:ext>
            </a:extLst>
          </p:cNvPr>
          <p:cNvSpPr/>
          <p:nvPr/>
        </p:nvSpPr>
        <p:spPr>
          <a:xfrm rot="5400000">
            <a:off x="5963264" y="3513816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59483C5E-DF92-0984-D234-B032F76462AA}"/>
              </a:ext>
            </a:extLst>
          </p:cNvPr>
          <p:cNvSpPr txBox="1"/>
          <p:nvPr/>
        </p:nvSpPr>
        <p:spPr>
          <a:xfrm>
            <a:off x="10509964" y="4334067"/>
            <a:ext cx="619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aseline="30000"/>
              <a:t>[8]</a:t>
            </a:r>
            <a:endParaRPr lang="en-GB" baseline="30000"/>
          </a:p>
        </p:txBody>
      </p:sp>
    </p:spTree>
    <p:extLst>
      <p:ext uri="{BB962C8B-B14F-4D97-AF65-F5344CB8AC3E}">
        <p14:creationId xmlns:p14="http://schemas.microsoft.com/office/powerpoint/2010/main" val="361582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8"/>
    </mc:Choice>
    <mc:Fallback xmlns="">
      <p:transition spd="slow" advTm="95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E6D00-4BFE-6A4B-74FE-42B1D2288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908F1E-0AFA-D11F-DDB8-3E501D15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7A1821-CAFC-D673-8564-408D28E6A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93ADB20-06EF-E95C-8B1B-4FE5DDF400B3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81EFCBC-A625-A70B-28AC-988C6000A407}"/>
              </a:ext>
            </a:extLst>
          </p:cNvPr>
          <p:cNvSpPr/>
          <p:nvPr/>
        </p:nvSpPr>
        <p:spPr>
          <a:xfrm>
            <a:off x="216307" y="196644"/>
            <a:ext cx="5432653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Charlesworth et al, 1987 –  Beneficial mutations </a:t>
            </a:r>
            <a:r>
              <a:rPr lang="de-DE" b="1" baseline="30000">
                <a:solidFill>
                  <a:schemeClr val="tx1"/>
                </a:solidFill>
              </a:rPr>
              <a:t>[4]</a:t>
            </a:r>
            <a:r>
              <a:rPr lang="de-DE" b="1">
                <a:solidFill>
                  <a:schemeClr val="tx1"/>
                </a:solidFill>
              </a:rPr>
              <a:t>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8E37023-E982-99E0-9EE8-9AB27AC0EDAD}"/>
              </a:ext>
            </a:extLst>
          </p:cNvPr>
          <p:cNvSpPr/>
          <p:nvPr/>
        </p:nvSpPr>
        <p:spPr>
          <a:xfrm>
            <a:off x="216307" y="6174506"/>
            <a:ext cx="11769216" cy="47686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[8] </a:t>
            </a:r>
            <a:r>
              <a:rPr lang="en-GB" sz="1000">
                <a:solidFill>
                  <a:schemeClr val="tx1"/>
                </a:solidFill>
              </a:rPr>
              <a:t>Charlesworth, B., Coyne, J. A., &amp; Barton, N. H. (1987). The Relative Rates of Evolution of Sex Chromosomes and Autosomes. The American Naturalist, 130(1), 113–146.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1A26663-CC89-6D09-2206-D49BFEE31CA5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5</a:t>
            </a:r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FEEE324-6D24-FD8B-06F8-B3A2F4A6BADF}"/>
              </a:ext>
            </a:extLst>
          </p:cNvPr>
          <p:cNvGrpSpPr/>
          <p:nvPr/>
        </p:nvGrpSpPr>
        <p:grpSpPr>
          <a:xfrm>
            <a:off x="3987634" y="1923864"/>
            <a:ext cx="4216729" cy="693317"/>
            <a:chOff x="1081548" y="1465006"/>
            <a:chExt cx="3647768" cy="5997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3A98F602-A763-6937-F203-40F2194253E7}"/>
                </a:ext>
              </a:extLst>
            </p:cNvPr>
            <p:cNvSpPr/>
            <p:nvPr/>
          </p:nvSpPr>
          <p:spPr>
            <a:xfrm>
              <a:off x="1081548" y="1465006"/>
              <a:ext cx="3647768" cy="5997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1926F9B4-473B-1993-39C4-6210D097CC33}"/>
                </a:ext>
              </a:extLst>
            </p:cNvPr>
            <p:cNvGrpSpPr/>
            <p:nvPr/>
          </p:nvGrpSpPr>
          <p:grpSpPr>
            <a:xfrm>
              <a:off x="1192162" y="1584008"/>
              <a:ext cx="3447417" cy="358171"/>
              <a:chOff x="838200" y="2173994"/>
              <a:chExt cx="3447417" cy="358171"/>
            </a:xfrm>
          </p:grpSpPr>
          <p:pic>
            <p:nvPicPr>
              <p:cNvPr id="10" name="Grafik 9">
                <a:extLst>
                  <a:ext uri="{FF2B5EF4-FFF2-40B4-BE49-F238E27FC236}">
                    <a16:creationId xmlns:a16="http://schemas.microsoft.com/office/drawing/2014/main" id="{3E05B5BF-01EC-0F8E-4297-3B6712070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8200" y="2173994"/>
                <a:ext cx="2034716" cy="358171"/>
              </a:xfrm>
              <a:prstGeom prst="rect">
                <a:avLst/>
              </a:prstGeom>
            </p:spPr>
          </p:pic>
          <p:pic>
            <p:nvPicPr>
              <p:cNvPr id="13" name="Grafik 12">
                <a:extLst>
                  <a:ext uri="{FF2B5EF4-FFF2-40B4-BE49-F238E27FC236}">
                    <a16:creationId xmlns:a16="http://schemas.microsoft.com/office/drawing/2014/main" id="{2A5578E8-B660-79B1-A9B3-F0615FC79E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4381" y="2212098"/>
                <a:ext cx="1341236" cy="281964"/>
              </a:xfrm>
              <a:prstGeom prst="rect">
                <a:avLst/>
              </a:prstGeom>
            </p:spPr>
          </p:pic>
        </p:grpSp>
      </p:grpSp>
      <p:sp>
        <p:nvSpPr>
          <p:cNvPr id="6" name="Rechteck 5">
            <a:extLst>
              <a:ext uri="{FF2B5EF4-FFF2-40B4-BE49-F238E27FC236}">
                <a16:creationId xmlns:a16="http://schemas.microsoft.com/office/drawing/2014/main" id="{C20E6367-0AE6-33DD-6805-B151D5530BC0}"/>
              </a:ext>
            </a:extLst>
          </p:cNvPr>
          <p:cNvSpPr/>
          <p:nvPr/>
        </p:nvSpPr>
        <p:spPr>
          <a:xfrm>
            <a:off x="2885767" y="3457325"/>
            <a:ext cx="6420465" cy="938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 In both sexes, recessiveness supports the fixation of new </a:t>
            </a: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 beneficial alleles on the X chromosome (faster-X theory)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Pfeil: Chevron 10">
            <a:extLst>
              <a:ext uri="{FF2B5EF4-FFF2-40B4-BE49-F238E27FC236}">
                <a16:creationId xmlns:a16="http://schemas.microsoft.com/office/drawing/2014/main" id="{67201D74-0DCB-6007-A174-1D24E2FD348A}"/>
              </a:ext>
            </a:extLst>
          </p:cNvPr>
          <p:cNvSpPr/>
          <p:nvPr/>
        </p:nvSpPr>
        <p:spPr>
          <a:xfrm>
            <a:off x="2753031" y="3680288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20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5"/>
    </mc:Choice>
    <mc:Fallback xmlns="">
      <p:transition spd="slow" advTm="85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02BF7-8387-92D0-C251-58327A0C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29294B-C63B-1C5A-9F54-6FBD0DB74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290610-78AC-958B-7030-2CEA70137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01DD817-1A78-1B4D-E08A-48A782F8020F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70073D0-F900-5BEF-61DE-962C9C28C186}"/>
              </a:ext>
            </a:extLst>
          </p:cNvPr>
          <p:cNvSpPr/>
          <p:nvPr/>
        </p:nvSpPr>
        <p:spPr>
          <a:xfrm>
            <a:off x="216307" y="196644"/>
            <a:ext cx="5552103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Charlesworth et al, 1987 – Deleterious mutations </a:t>
            </a:r>
            <a:r>
              <a:rPr lang="de-DE" b="1" baseline="30000">
                <a:solidFill>
                  <a:schemeClr val="tx1"/>
                </a:solidFill>
              </a:rPr>
              <a:t>[4]</a:t>
            </a:r>
            <a:r>
              <a:rPr lang="de-DE" b="1">
                <a:solidFill>
                  <a:schemeClr val="tx1"/>
                </a:solidFill>
              </a:rPr>
              <a:t>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B2824B1-2C49-325A-A995-522FBEDE26A4}"/>
              </a:ext>
            </a:extLst>
          </p:cNvPr>
          <p:cNvSpPr/>
          <p:nvPr/>
        </p:nvSpPr>
        <p:spPr>
          <a:xfrm>
            <a:off x="216307" y="6174506"/>
            <a:ext cx="11769216" cy="47686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[8] </a:t>
            </a:r>
            <a:r>
              <a:rPr lang="en-GB" sz="1000">
                <a:solidFill>
                  <a:schemeClr val="tx1"/>
                </a:solidFill>
              </a:rPr>
              <a:t>Charlesworth, B., Coyne, J. A., &amp; Barton, N. H. (1987). The Relative Rates of Evolution of Sex Chromosomes and Autosomes. The American Naturalist, 130(1), 113–146.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20FC4C2-ED7A-E91E-57FF-A1A25710C858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6</a:t>
            </a:r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CAA3861-D80F-A155-C056-08E950DAB006}"/>
              </a:ext>
            </a:extLst>
          </p:cNvPr>
          <p:cNvGrpSpPr/>
          <p:nvPr/>
        </p:nvGrpSpPr>
        <p:grpSpPr>
          <a:xfrm>
            <a:off x="6336592" y="1848780"/>
            <a:ext cx="4896822" cy="616564"/>
            <a:chOff x="948812" y="1512206"/>
            <a:chExt cx="4930878" cy="6208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4EBBDD9F-4984-4080-2CD6-F32D114427F6}"/>
                </a:ext>
              </a:extLst>
            </p:cNvPr>
            <p:cNvSpPr/>
            <p:nvPr/>
          </p:nvSpPr>
          <p:spPr>
            <a:xfrm>
              <a:off x="948812" y="1512206"/>
              <a:ext cx="4930878" cy="62085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F0ECFFD2-ED5B-AB5B-F2B1-8B8BE3BF0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1547" y="1609931"/>
              <a:ext cx="3429297" cy="419136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256E5DC4-8CD8-C4C1-99BB-AB384BD06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33628" y="1673487"/>
              <a:ext cx="1234547" cy="350550"/>
            </a:xfrm>
            <a:prstGeom prst="rect">
              <a:avLst/>
            </a:prstGeom>
          </p:spPr>
        </p:pic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223ED9C-6378-E169-A2B7-A75DBC999911}"/>
              </a:ext>
            </a:extLst>
          </p:cNvPr>
          <p:cNvGrpSpPr/>
          <p:nvPr/>
        </p:nvGrpSpPr>
        <p:grpSpPr>
          <a:xfrm>
            <a:off x="1722233" y="1851525"/>
            <a:ext cx="4076551" cy="627664"/>
            <a:chOff x="5080000" y="549886"/>
            <a:chExt cx="3042313" cy="4684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27EE5DA0-DD31-407B-D4BF-E97E564CC79B}"/>
                </a:ext>
              </a:extLst>
            </p:cNvPr>
            <p:cNvSpPr/>
            <p:nvPr/>
          </p:nvSpPr>
          <p:spPr>
            <a:xfrm>
              <a:off x="5080000" y="549886"/>
              <a:ext cx="3042313" cy="46842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F40B6B2E-04DF-AF5C-D453-548B8A686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1247" y="630777"/>
              <a:ext cx="2301439" cy="312447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A9FD82CE-0F10-CB2E-2B9F-B2019FEA6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62686" y="645502"/>
              <a:ext cx="586791" cy="266723"/>
            </a:xfrm>
            <a:prstGeom prst="rect">
              <a:avLst/>
            </a:prstGeom>
          </p:spPr>
        </p:pic>
      </p:grpSp>
      <p:sp>
        <p:nvSpPr>
          <p:cNvPr id="16" name="Rechteck 15">
            <a:extLst>
              <a:ext uri="{FF2B5EF4-FFF2-40B4-BE49-F238E27FC236}">
                <a16:creationId xmlns:a16="http://schemas.microsoft.com/office/drawing/2014/main" id="{CC3F17F8-1463-8B3F-60EC-863A01D5420F}"/>
              </a:ext>
            </a:extLst>
          </p:cNvPr>
          <p:cNvSpPr/>
          <p:nvPr/>
        </p:nvSpPr>
        <p:spPr>
          <a:xfrm>
            <a:off x="2462380" y="3429000"/>
            <a:ext cx="7267240" cy="9701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 When selection acts on both sexes or males only, recessiveness </a:t>
            </a: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 impedes the fixation of new deleterious alleles on the X chromosome</a:t>
            </a:r>
          </a:p>
        </p:txBody>
      </p:sp>
      <p:sp>
        <p:nvSpPr>
          <p:cNvPr id="32" name="Pfeil: Chevron 31">
            <a:extLst>
              <a:ext uri="{FF2B5EF4-FFF2-40B4-BE49-F238E27FC236}">
                <a16:creationId xmlns:a16="http://schemas.microsoft.com/office/drawing/2014/main" id="{446D3BCF-8E97-F184-5010-F14A4210BB5D}"/>
              </a:ext>
            </a:extLst>
          </p:cNvPr>
          <p:cNvSpPr/>
          <p:nvPr/>
        </p:nvSpPr>
        <p:spPr>
          <a:xfrm>
            <a:off x="2329644" y="3671778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3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3"/>
    </mc:Choice>
    <mc:Fallback xmlns="">
      <p:transition spd="slow" advTm="6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DC6AA-31E7-A9EE-2436-C339E5C93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4F5B8D-81E2-D1DE-39D2-5B8C8F02A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E7906C-B8FB-DC8B-E53C-F95286DE9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239CB7E-38F1-5C96-E966-FA403608D4DA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6C1792-0E87-0D0A-FA51-28AAF06F6E3B}"/>
              </a:ext>
            </a:extLst>
          </p:cNvPr>
          <p:cNvSpPr/>
          <p:nvPr/>
        </p:nvSpPr>
        <p:spPr>
          <a:xfrm>
            <a:off x="216307" y="196644"/>
            <a:ext cx="4701133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Summary on theory and research question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F793A35-31C2-605D-BF09-D9B4F875B1CD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7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F6017E5A-A1FA-1732-6808-B7804F1D3C9F}"/>
              </a:ext>
            </a:extLst>
          </p:cNvPr>
          <p:cNvSpPr/>
          <p:nvPr/>
        </p:nvSpPr>
        <p:spPr>
          <a:xfrm>
            <a:off x="2765322" y="1651819"/>
            <a:ext cx="6516330" cy="934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Female-deleterious variants may stay hidden on the X </a:t>
            </a: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chromosome but if male-deleterious are exposed to selection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7C9747B-393F-2438-E83F-AD511BC1279B}"/>
              </a:ext>
            </a:extLst>
          </p:cNvPr>
          <p:cNvSpPr/>
          <p:nvPr/>
        </p:nvSpPr>
        <p:spPr>
          <a:xfrm>
            <a:off x="2765320" y="2834260"/>
            <a:ext cx="7666703" cy="934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 The effect of X-linked and autosomal deleterious mutations should be </a:t>
            </a: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 more similar in females than in males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2AF83A8-4A15-20F2-84F6-9139FFADB714}"/>
              </a:ext>
            </a:extLst>
          </p:cNvPr>
          <p:cNvSpPr/>
          <p:nvPr/>
        </p:nvSpPr>
        <p:spPr>
          <a:xfrm>
            <a:off x="2765321" y="4019455"/>
            <a:ext cx="6152537" cy="934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 „Do X-linked deleterious variants impact female fitness </a:t>
            </a: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 more severely than male fitness?“</a:t>
            </a:r>
          </a:p>
        </p:txBody>
      </p:sp>
      <p:sp>
        <p:nvSpPr>
          <p:cNvPr id="25" name="Pfeil: Chevron 24">
            <a:extLst>
              <a:ext uri="{FF2B5EF4-FFF2-40B4-BE49-F238E27FC236}">
                <a16:creationId xmlns:a16="http://schemas.microsoft.com/office/drawing/2014/main" id="{7355B5EA-3F28-B66F-FC61-20C106EE0929}"/>
              </a:ext>
            </a:extLst>
          </p:cNvPr>
          <p:cNvSpPr/>
          <p:nvPr/>
        </p:nvSpPr>
        <p:spPr>
          <a:xfrm>
            <a:off x="2632585" y="4276989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Pfeil: Chevron 4">
            <a:extLst>
              <a:ext uri="{FF2B5EF4-FFF2-40B4-BE49-F238E27FC236}">
                <a16:creationId xmlns:a16="http://schemas.microsoft.com/office/drawing/2014/main" id="{68C2691A-655A-C7C4-21EE-D558F2782D30}"/>
              </a:ext>
            </a:extLst>
          </p:cNvPr>
          <p:cNvSpPr/>
          <p:nvPr/>
        </p:nvSpPr>
        <p:spPr>
          <a:xfrm>
            <a:off x="2632584" y="3094548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Pfeil: Chevron 7">
            <a:extLst>
              <a:ext uri="{FF2B5EF4-FFF2-40B4-BE49-F238E27FC236}">
                <a16:creationId xmlns:a16="http://schemas.microsoft.com/office/drawing/2014/main" id="{AC80B804-7145-5AC0-E1B6-51D93AA0231F}"/>
              </a:ext>
            </a:extLst>
          </p:cNvPr>
          <p:cNvSpPr/>
          <p:nvPr/>
        </p:nvSpPr>
        <p:spPr>
          <a:xfrm>
            <a:off x="2386777" y="4279512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73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4"/>
    </mc:Choice>
    <mc:Fallback xmlns="">
      <p:transition spd="slow" advTm="73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4CBAB-763B-6B02-3A8E-1A52E2BE1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56D941-62E4-1569-0DE5-875EB6BF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B991A6-C950-4AC9-94B9-86CE9E58C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D64D47A-240D-14C8-643A-7376AF1244EF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8A6C00F-B3EC-B9EF-C4DA-EBAD1A900E93}"/>
              </a:ext>
            </a:extLst>
          </p:cNvPr>
          <p:cNvSpPr/>
          <p:nvPr/>
        </p:nvSpPr>
        <p:spPr>
          <a:xfrm>
            <a:off x="216306" y="196644"/>
            <a:ext cx="551589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X chromosome and male eusocial insects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E471BE-C37A-7910-67A2-7FB337EF3C56}"/>
              </a:ext>
            </a:extLst>
          </p:cNvPr>
          <p:cNvSpPr/>
          <p:nvPr/>
        </p:nvSpPr>
        <p:spPr>
          <a:xfrm>
            <a:off x="216307" y="6176963"/>
            <a:ext cx="11769216" cy="47440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[9] </a:t>
            </a:r>
            <a:r>
              <a:rPr lang="en-GB" sz="1000">
                <a:solidFill>
                  <a:schemeClr val="tx1"/>
                </a:solidFill>
              </a:rPr>
              <a:t>Kraaijeveld, K. (2009). Male genes with nowhere to hide; sexual conflict in haplodiploids. Animal Biology, 59(4), 403–415. https://doi.org/10.1163/157075509X12499949744225 </a:t>
            </a: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2791EDE-D28C-3A5F-0062-9735C1509DED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8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3D00DBE-2CF2-793C-2784-7B51ADD38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495" y="888290"/>
            <a:ext cx="7135010" cy="5003539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682A5AC-85AA-294D-1BBA-9743B067B76A}"/>
              </a:ext>
            </a:extLst>
          </p:cNvPr>
          <p:cNvSpPr txBox="1"/>
          <p:nvPr/>
        </p:nvSpPr>
        <p:spPr>
          <a:xfrm>
            <a:off x="5565059" y="5480398"/>
            <a:ext cx="786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/>
              <a:t>[9]</a:t>
            </a:r>
            <a:endParaRPr lang="en-GB" b="1"/>
          </a:p>
        </p:txBody>
      </p:sp>
    </p:spTree>
    <p:extLst>
      <p:ext uri="{BB962C8B-B14F-4D97-AF65-F5344CB8AC3E}">
        <p14:creationId xmlns:p14="http://schemas.microsoft.com/office/powerpoint/2010/main" val="20923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7"/>
    </mc:Choice>
    <mc:Fallback xmlns="">
      <p:transition spd="slow" advTm="69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23803-8CA5-B002-3E84-B7A8F1E2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A33CA-3694-5C51-5667-F24F3EEE0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CDC7C6-10BE-D278-D18A-96E478A99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E70783-DF67-7956-6C11-0CF08184BF7F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7DDCD27-C5CB-0F30-5919-B27FAAD1F0FF}"/>
              </a:ext>
            </a:extLst>
          </p:cNvPr>
          <p:cNvSpPr/>
          <p:nvPr/>
        </p:nvSpPr>
        <p:spPr>
          <a:xfrm>
            <a:off x="216307" y="196644"/>
            <a:ext cx="137651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Methods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377E2CF-7322-F415-85C3-707D591AC6DD}"/>
              </a:ext>
            </a:extLst>
          </p:cNvPr>
          <p:cNvSpPr/>
          <p:nvPr/>
        </p:nvSpPr>
        <p:spPr>
          <a:xfrm>
            <a:off x="216307" y="6056670"/>
            <a:ext cx="11769216" cy="59470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[10] </a:t>
            </a:r>
            <a:r>
              <a:rPr lang="en-GB" sz="1000">
                <a:solidFill>
                  <a:schemeClr val="tx1"/>
                </a:solidFill>
              </a:rPr>
              <a:t>Mackay, T. F. C., Richards, S., Stone, E. A., Barbadilla, A., Ayroles, J. F., Zhu, D., Casillas, S., Han, Y., Magwire, M. M., Cridland, J. M., Richardson, M. F., Anholt, R. R. H., Barrón, M., Bess, C., Blankenburg, K. P., Carbone, M. A., Castellano, D., Chaboub, L., Duncan, L., … Gibbs, R. A. (2012). The Drosophila melanogaster Genetic Reference Panel. Nature, 482(7384), 173–178. https://doi.org/10.1038/nature10811</a:t>
            </a: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8105B6F-BCA7-6A25-1666-4FB9A42797CA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9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4C4DC52-7D0D-92FA-AAB4-E42202B76C39}"/>
              </a:ext>
            </a:extLst>
          </p:cNvPr>
          <p:cNvSpPr/>
          <p:nvPr/>
        </p:nvSpPr>
        <p:spPr>
          <a:xfrm>
            <a:off x="4135691" y="1055213"/>
            <a:ext cx="3776653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de-DE" i="1">
                <a:solidFill>
                  <a:schemeClr val="tx1"/>
                </a:solidFill>
              </a:rPr>
              <a:t>Drosophila</a:t>
            </a:r>
            <a:r>
              <a:rPr lang="de-DE">
                <a:solidFill>
                  <a:schemeClr val="tx1"/>
                </a:solidFill>
              </a:rPr>
              <a:t> Genetic Reference Panel (DGRP) genotypes </a:t>
            </a:r>
            <a:r>
              <a:rPr lang="de-DE" baseline="30000">
                <a:solidFill>
                  <a:schemeClr val="tx1"/>
                </a:solidFill>
              </a:rPr>
              <a:t>[10]</a:t>
            </a:r>
            <a:endParaRPr lang="de-DE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F83DACD-5745-72FE-156C-4737F6013EE9}"/>
              </a:ext>
            </a:extLst>
          </p:cNvPr>
          <p:cNvSpPr/>
          <p:nvPr/>
        </p:nvSpPr>
        <p:spPr>
          <a:xfrm>
            <a:off x="4135690" y="1825650"/>
            <a:ext cx="3776653" cy="13346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Genotypes of 205 heavily inbred </a:t>
            </a: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(20 generations of sib matings) </a:t>
            </a:r>
            <a:r>
              <a:rPr lang="de-DE" i="1">
                <a:solidFill>
                  <a:schemeClr val="tx1"/>
                </a:solidFill>
              </a:rPr>
              <a:t>Drosophila melanogaster </a:t>
            </a:r>
            <a:r>
              <a:rPr lang="de-DE">
                <a:solidFill>
                  <a:schemeClr val="tx1"/>
                </a:solidFill>
              </a:rPr>
              <a:t>flies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3AE503D-9837-393F-5F8F-9994785A752A}"/>
              </a:ext>
            </a:extLst>
          </p:cNvPr>
          <p:cNvSpPr/>
          <p:nvPr/>
        </p:nvSpPr>
        <p:spPr>
          <a:xfrm>
            <a:off x="4135691" y="3461929"/>
            <a:ext cx="3776652" cy="1266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Increased homozygosity may </a:t>
            </a: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expose masked deleterious </a:t>
            </a: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variants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Pfeil: Chevron 12">
            <a:extLst>
              <a:ext uri="{FF2B5EF4-FFF2-40B4-BE49-F238E27FC236}">
                <a16:creationId xmlns:a16="http://schemas.microsoft.com/office/drawing/2014/main" id="{FE9F3390-C1F0-413B-E6BE-2F1B7FE5CC5E}"/>
              </a:ext>
            </a:extLst>
          </p:cNvPr>
          <p:cNvSpPr/>
          <p:nvPr/>
        </p:nvSpPr>
        <p:spPr>
          <a:xfrm>
            <a:off x="4002958" y="3852818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1200A1E-AF97-0DC3-C73B-8BC39DD1C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925" y="1251416"/>
            <a:ext cx="2841646" cy="1767452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80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5"/>
    </mc:Choice>
    <mc:Fallback xmlns="">
      <p:transition spd="slow" advTm="41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2C841-C4D5-54C4-D19F-F10FA0B72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59DA14-F713-39C4-207F-94DFDFB6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07A2AD-6708-E868-5691-D360F088D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8C7F0E8-60A2-A6D1-CDF8-ED1F41597156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F1E89A8-F1AE-9410-85DD-1169EB643881}"/>
              </a:ext>
            </a:extLst>
          </p:cNvPr>
          <p:cNvSpPr/>
          <p:nvPr/>
        </p:nvSpPr>
        <p:spPr>
          <a:xfrm>
            <a:off x="216307" y="196644"/>
            <a:ext cx="137651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Methods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558AA97-7067-FA91-FEEA-CF78DED78131}"/>
              </a:ext>
            </a:extLst>
          </p:cNvPr>
          <p:cNvSpPr/>
          <p:nvPr/>
        </p:nvSpPr>
        <p:spPr>
          <a:xfrm>
            <a:off x="216307" y="5179964"/>
            <a:ext cx="11769216" cy="147140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[10] </a:t>
            </a:r>
            <a:r>
              <a:rPr lang="en-GB" sz="1000">
                <a:solidFill>
                  <a:schemeClr val="tx1"/>
                </a:solidFill>
              </a:rPr>
              <a:t>Mackay, T. F. C., Richards, S., Stone, E. A., Barbadilla, A., Ayroles, J. F., Zhu, D., Casillas, S., Han, Y., Magwire, M. M., Cridland, J. M., Richardson, M. F., Anholt, R. R. H., Barrón, M., Bess, C., Blankenburg, K. P., Carbone, M. A., Castellano, D., Chaboub, L., Duncan, L., … Gibbs, R. A. (2012). The Drosophila melanogaster Genetic Reference Panel. Nature, 482(7384), 173–178. https://doi.org/10.1038/nature10811</a:t>
            </a:r>
          </a:p>
          <a:p>
            <a:r>
              <a:rPr lang="en-GB" sz="1000" b="1">
                <a:solidFill>
                  <a:schemeClr val="tx1"/>
                </a:solidFill>
              </a:rPr>
              <a:t>[11]</a:t>
            </a:r>
            <a:r>
              <a:rPr lang="en-GB" sz="1000">
                <a:solidFill>
                  <a:schemeClr val="tx1"/>
                </a:solidFill>
              </a:rPr>
              <a:t> Cingolani, P., Platts, A., Wang, L. L., Coon, M., Nguyen, T., Wang, L., Land, S. J., Lu, X., &amp; Ruden, D. M. (2012). A program for annotating and predicting the effects of single nucleotide polymorphisms, SnpEff. Fly, 6(2), 80–92. https://doi.org/10.4161/fly.19695</a:t>
            </a:r>
          </a:p>
          <a:p>
            <a:r>
              <a:rPr lang="en-GB" sz="1000" b="1">
                <a:solidFill>
                  <a:schemeClr val="tx1"/>
                </a:solidFill>
              </a:rPr>
              <a:t>[12] </a:t>
            </a:r>
            <a:r>
              <a:rPr lang="en-GB" sz="1000">
                <a:solidFill>
                  <a:schemeClr val="tx1"/>
                </a:solidFill>
              </a:rPr>
              <a:t>Davydov, E. V., Goode, D. L., Sirota, M., Cooper, G. M., Sidow, A., &amp; Batzoglou, S. (2010). Identifying a high fraction of the human genome to be under selective constraint using GERP++. PLoS Computational Biology, 6(12), e1001025. https://doi.org/10.1371/journal.pcbi.1001025 </a:t>
            </a:r>
          </a:p>
          <a:p>
            <a:r>
              <a:rPr lang="en-GB" sz="1000" b="1">
                <a:solidFill>
                  <a:schemeClr val="tx1"/>
                </a:solidFill>
              </a:rPr>
              <a:t>[10] </a:t>
            </a:r>
            <a:r>
              <a:rPr lang="en-GB" sz="1000">
                <a:solidFill>
                  <a:schemeClr val="tx1"/>
                </a:solidFill>
              </a:rPr>
              <a:t>Wong, H. W. S., &amp; Holman, L. (2023). Pleiotropic fitness effects across sexes and ages in the Drosophila genome and transcriptome. Evolution, 77(12), 2642–2655. https://doi.org/10.1093/evolut/qpad163</a:t>
            </a:r>
          </a:p>
          <a:p>
            <a:r>
              <a:rPr lang="en-GB" sz="1000" b="1">
                <a:solidFill>
                  <a:schemeClr val="tx1"/>
                </a:solidFill>
              </a:rPr>
              <a:t>[11] </a:t>
            </a:r>
            <a:r>
              <a:rPr lang="en-GB" sz="1000">
                <a:solidFill>
                  <a:schemeClr val="tx1"/>
                </a:solidFill>
              </a:rPr>
              <a:t>Bürkner, P.-C. (2017). brms: An R Package for Bayesian Multilevel Models Using Stan. Journal of Statistical Software, 80, 1–28. https://doi.org/10.18637/jss.v080.i01</a:t>
            </a: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E8C2C86-E793-2A19-1226-743F2C34B3DC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10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1AFDFFA-447A-872D-AE99-C9C37C9DAE2E}"/>
              </a:ext>
            </a:extLst>
          </p:cNvPr>
          <p:cNvSpPr/>
          <p:nvPr/>
        </p:nvSpPr>
        <p:spPr>
          <a:xfrm>
            <a:off x="470885" y="1741633"/>
            <a:ext cx="3643915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Drosophila genetic reference panel (DGRP) genotypes </a:t>
            </a:r>
            <a:r>
              <a:rPr lang="de-DE" baseline="30000">
                <a:solidFill>
                  <a:schemeClr val="tx1"/>
                </a:solidFill>
              </a:rPr>
              <a:t>[10]</a:t>
            </a:r>
            <a:endParaRPr lang="de-DE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Pfeil: Chevron 8">
            <a:extLst>
              <a:ext uri="{FF2B5EF4-FFF2-40B4-BE49-F238E27FC236}">
                <a16:creationId xmlns:a16="http://schemas.microsoft.com/office/drawing/2014/main" id="{E3C73E40-1491-ACA3-D512-F655E88550EC}"/>
              </a:ext>
            </a:extLst>
          </p:cNvPr>
          <p:cNvSpPr/>
          <p:nvPr/>
        </p:nvSpPr>
        <p:spPr>
          <a:xfrm>
            <a:off x="4176004" y="1879204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4C6D18A-D5F6-B796-4AAE-BE170820932C}"/>
              </a:ext>
            </a:extLst>
          </p:cNvPr>
          <p:cNvSpPr/>
          <p:nvPr/>
        </p:nvSpPr>
        <p:spPr>
          <a:xfrm>
            <a:off x="4502679" y="1741633"/>
            <a:ext cx="2934108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Identification of putatively deleterious variants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65AF204-34FB-EE60-C19A-3F828007AC9B}"/>
              </a:ext>
            </a:extLst>
          </p:cNvPr>
          <p:cNvSpPr/>
          <p:nvPr/>
        </p:nvSpPr>
        <p:spPr>
          <a:xfrm>
            <a:off x="4502678" y="2515647"/>
            <a:ext cx="1593322" cy="580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Via SnpEff </a:t>
            </a:r>
            <a:r>
              <a:rPr lang="de-DE" baseline="30000">
                <a:solidFill>
                  <a:schemeClr val="tx1"/>
                </a:solidFill>
              </a:rPr>
              <a:t>[11]</a:t>
            </a:r>
            <a:endParaRPr lang="de-DE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8952116-EF41-7C7F-E461-1CB9D01B7593}"/>
              </a:ext>
            </a:extLst>
          </p:cNvPr>
          <p:cNvSpPr/>
          <p:nvPr/>
        </p:nvSpPr>
        <p:spPr>
          <a:xfrm>
            <a:off x="4502678" y="3071363"/>
            <a:ext cx="1593321" cy="580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Via GERP </a:t>
            </a:r>
            <a:r>
              <a:rPr lang="de-DE" baseline="30000">
                <a:solidFill>
                  <a:schemeClr val="tx1"/>
                </a:solidFill>
              </a:rPr>
              <a:t>[12]</a:t>
            </a:r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70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"/>
    </mc:Choice>
    <mc:Fallback xmlns="">
      <p:transition spd="slow" advTm="25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9CC46-8CF0-00AC-5E0B-51BF1557E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B6DF81-BFD7-2ACD-043A-9950558BC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50660C-92AC-85CD-8ACC-09C0CD205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4284DB-BA8E-F477-FB68-37121857BAFF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C146EE4-5E95-B6F4-1825-3BEC11EBBCBD}"/>
              </a:ext>
            </a:extLst>
          </p:cNvPr>
          <p:cNvSpPr/>
          <p:nvPr/>
        </p:nvSpPr>
        <p:spPr>
          <a:xfrm>
            <a:off x="216307" y="196644"/>
            <a:ext cx="137651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Methods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10B6879-29A0-FD71-883B-BD575CB8E705}"/>
              </a:ext>
            </a:extLst>
          </p:cNvPr>
          <p:cNvSpPr/>
          <p:nvPr/>
        </p:nvSpPr>
        <p:spPr>
          <a:xfrm>
            <a:off x="216307" y="5179964"/>
            <a:ext cx="11769216" cy="147140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[10] </a:t>
            </a:r>
            <a:r>
              <a:rPr lang="en-GB" sz="1000">
                <a:solidFill>
                  <a:schemeClr val="tx1"/>
                </a:solidFill>
              </a:rPr>
              <a:t>Mackay, T. F. C., Richards, S., Stone, E. A., Barbadilla, A., Ayroles, J. F., Zhu, D., Casillas, S., Han, Y., Magwire, M. M., Cridland, J. M., Richardson, M. F., Anholt, R. R. H., Barrón, M., Bess, C., Blankenburg, K. P., Carbone, M. A., Castellano, D., Chaboub, L., Duncan, L., … Gibbs, R. A. (2012). The Drosophila melanogaster Genetic Reference Panel. Nature, 482(7384), 173–178. https://doi.org/10.1038/nature10811</a:t>
            </a:r>
          </a:p>
          <a:p>
            <a:r>
              <a:rPr lang="en-GB" sz="1000" b="1">
                <a:solidFill>
                  <a:schemeClr val="tx1"/>
                </a:solidFill>
              </a:rPr>
              <a:t>[11]</a:t>
            </a:r>
            <a:r>
              <a:rPr lang="en-GB" sz="1000">
                <a:solidFill>
                  <a:schemeClr val="tx1"/>
                </a:solidFill>
              </a:rPr>
              <a:t> Cingolani, P., Platts, A., Wang, L. L., Coon, M., Nguyen, T., Wang, L., Land, S. J., Lu, X., &amp; Ruden, D. M. (2012). A program for annotating and predicting the effects of single nucleotide polymorphisms, SnpEff. Fly, 6(2), 80–92. https://doi.org/10.4161/fly.19695</a:t>
            </a:r>
          </a:p>
          <a:p>
            <a:r>
              <a:rPr lang="en-GB" sz="1000" b="1">
                <a:solidFill>
                  <a:schemeClr val="tx1"/>
                </a:solidFill>
              </a:rPr>
              <a:t>[12] </a:t>
            </a:r>
            <a:r>
              <a:rPr lang="en-GB" sz="1000">
                <a:solidFill>
                  <a:schemeClr val="tx1"/>
                </a:solidFill>
              </a:rPr>
              <a:t>Davydov, E. V., Goode, D. L., Sirota, M., Cooper, G. M., Sidow, A., &amp; Batzoglou, S. (2010). Identifying a high fraction of the human genome to be under selective constraint using GERP++. PLoS Computational Biology, 6(12), e1001025. https://doi.org/10.1371/journal.pcbi.1001025 </a:t>
            </a:r>
          </a:p>
          <a:p>
            <a:r>
              <a:rPr lang="en-GB" sz="1000" b="1">
                <a:solidFill>
                  <a:schemeClr val="tx1"/>
                </a:solidFill>
              </a:rPr>
              <a:t>[13] </a:t>
            </a:r>
            <a:r>
              <a:rPr lang="en-GB" sz="1000">
                <a:solidFill>
                  <a:schemeClr val="tx1"/>
                </a:solidFill>
              </a:rPr>
              <a:t>Wong, H. W. S., &amp; Holman, L. (2023). Pleiotropic fitness effects across sexes and ages in the Drosophila genome and transcriptome. Evolution, 77(12), 2642–2655. https://doi.org/10.1093/evolut/qpad163</a:t>
            </a:r>
          </a:p>
          <a:p>
            <a:r>
              <a:rPr lang="en-GB" sz="1000" b="1">
                <a:solidFill>
                  <a:schemeClr val="tx1"/>
                </a:solidFill>
              </a:rPr>
              <a:t>[16] </a:t>
            </a:r>
            <a:r>
              <a:rPr lang="en-GB" sz="1000">
                <a:solidFill>
                  <a:schemeClr val="tx1"/>
                </a:solidFill>
              </a:rPr>
              <a:t>Bürkner, P.-C. (2017). brms: An R Package for Bayesian Multilevel Models Using Stan. Journal of Statistical Software, 80, 1–28. https://doi.org/10.18637/jss.v080.i01</a:t>
            </a: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D6DA698-FF7F-87F1-A478-0EFE6EA5C3E7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10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AD39B21-AD8B-5568-EF2D-BF80D2C740D7}"/>
              </a:ext>
            </a:extLst>
          </p:cNvPr>
          <p:cNvSpPr/>
          <p:nvPr/>
        </p:nvSpPr>
        <p:spPr>
          <a:xfrm>
            <a:off x="470885" y="1741633"/>
            <a:ext cx="3643915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Drosophila genetic reference panel (DGRP) genotypes </a:t>
            </a:r>
            <a:r>
              <a:rPr lang="de-DE" baseline="30000">
                <a:solidFill>
                  <a:schemeClr val="tx1"/>
                </a:solidFill>
              </a:rPr>
              <a:t>[10]</a:t>
            </a:r>
            <a:endParaRPr lang="de-DE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Pfeil: Chevron 8">
            <a:extLst>
              <a:ext uri="{FF2B5EF4-FFF2-40B4-BE49-F238E27FC236}">
                <a16:creationId xmlns:a16="http://schemas.microsoft.com/office/drawing/2014/main" id="{5A1F3D1A-EA72-8B00-78E4-06251107CC47}"/>
              </a:ext>
            </a:extLst>
          </p:cNvPr>
          <p:cNvSpPr/>
          <p:nvPr/>
        </p:nvSpPr>
        <p:spPr>
          <a:xfrm>
            <a:off x="4176004" y="1879204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98B8851-0A24-D5E1-3993-A5EB1C877A4E}"/>
              </a:ext>
            </a:extLst>
          </p:cNvPr>
          <p:cNvSpPr/>
          <p:nvPr/>
        </p:nvSpPr>
        <p:spPr>
          <a:xfrm>
            <a:off x="4502679" y="1741633"/>
            <a:ext cx="2934108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Identification of putatively deleterious variants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CC70634-571D-5EFF-2F46-537FC2760CA6}"/>
              </a:ext>
            </a:extLst>
          </p:cNvPr>
          <p:cNvSpPr/>
          <p:nvPr/>
        </p:nvSpPr>
        <p:spPr>
          <a:xfrm>
            <a:off x="4502678" y="2515647"/>
            <a:ext cx="1593322" cy="580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Via SnpEff </a:t>
            </a:r>
            <a:r>
              <a:rPr lang="de-DE" baseline="30000">
                <a:solidFill>
                  <a:schemeClr val="tx1"/>
                </a:solidFill>
              </a:rPr>
              <a:t>[11]</a:t>
            </a:r>
            <a:endParaRPr lang="de-DE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2233C77-6F96-76D4-25F4-7DB659F58126}"/>
              </a:ext>
            </a:extLst>
          </p:cNvPr>
          <p:cNvSpPr/>
          <p:nvPr/>
        </p:nvSpPr>
        <p:spPr>
          <a:xfrm>
            <a:off x="4502678" y="3071363"/>
            <a:ext cx="1593321" cy="580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Via GERP </a:t>
            </a:r>
            <a:r>
              <a:rPr lang="de-DE" baseline="30000">
                <a:solidFill>
                  <a:schemeClr val="tx1"/>
                </a:solidFill>
              </a:rPr>
              <a:t>[12]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Pfeil: Chevron 20">
            <a:extLst>
              <a:ext uri="{FF2B5EF4-FFF2-40B4-BE49-F238E27FC236}">
                <a16:creationId xmlns:a16="http://schemas.microsoft.com/office/drawing/2014/main" id="{F9ED1A6F-8B91-6E18-7454-27FF4444630F}"/>
              </a:ext>
            </a:extLst>
          </p:cNvPr>
          <p:cNvSpPr/>
          <p:nvPr/>
        </p:nvSpPr>
        <p:spPr>
          <a:xfrm>
            <a:off x="7497991" y="1879204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54233C7-25D9-0A28-E0C6-E425BC0F163A}"/>
              </a:ext>
            </a:extLst>
          </p:cNvPr>
          <p:cNvSpPr/>
          <p:nvPr/>
        </p:nvSpPr>
        <p:spPr>
          <a:xfrm>
            <a:off x="7819919" y="1741633"/>
            <a:ext cx="2018401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Match with fitness essays </a:t>
            </a:r>
            <a:r>
              <a:rPr lang="de-DE" baseline="30000">
                <a:solidFill>
                  <a:schemeClr val="tx1"/>
                </a:solidFill>
              </a:rPr>
              <a:t>[13]</a:t>
            </a:r>
            <a:endParaRPr lang="de-DE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Pfeil: Chevron 30">
            <a:extLst>
              <a:ext uri="{FF2B5EF4-FFF2-40B4-BE49-F238E27FC236}">
                <a16:creationId xmlns:a16="http://schemas.microsoft.com/office/drawing/2014/main" id="{01707D52-90CF-3B4C-FAC9-B2DF53B889F7}"/>
              </a:ext>
            </a:extLst>
          </p:cNvPr>
          <p:cNvSpPr/>
          <p:nvPr/>
        </p:nvSpPr>
        <p:spPr>
          <a:xfrm>
            <a:off x="9921399" y="1879204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D91BA7F-5CFD-A9E2-CF8F-4B7718BD3062}"/>
              </a:ext>
            </a:extLst>
          </p:cNvPr>
          <p:cNvSpPr/>
          <p:nvPr/>
        </p:nvSpPr>
        <p:spPr>
          <a:xfrm>
            <a:off x="10253157" y="1741633"/>
            <a:ext cx="1443135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Calculate genetic load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03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"/>
    </mc:Choice>
    <mc:Fallback xmlns="">
      <p:transition spd="slow" advTm="20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C276-9077-A0DD-A0C1-FD0AD09C5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285E6-F2AA-D5AD-1517-D05FB783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EC4C95-F768-8BF0-3B0E-F3B9BE416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1094D11-580C-5300-44DE-78D2A3CF1187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FAF5F50-6EE2-A5E7-E7CA-B9B836814E57}"/>
              </a:ext>
            </a:extLst>
          </p:cNvPr>
          <p:cNvSpPr/>
          <p:nvPr/>
        </p:nvSpPr>
        <p:spPr>
          <a:xfrm>
            <a:off x="216306" y="196644"/>
            <a:ext cx="3820814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Calculation of genetic load </a:t>
            </a:r>
            <a:r>
              <a:rPr lang="de-DE" b="1" baseline="30000">
                <a:solidFill>
                  <a:schemeClr val="tx1"/>
                </a:solidFill>
              </a:rPr>
              <a:t>[14, 15]</a:t>
            </a:r>
            <a:endParaRPr lang="en-GB" b="1" baseline="30000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E2F919-7963-3AC5-6400-C3071F5A76C7}"/>
              </a:ext>
            </a:extLst>
          </p:cNvPr>
          <p:cNvSpPr/>
          <p:nvPr/>
        </p:nvSpPr>
        <p:spPr>
          <a:xfrm>
            <a:off x="216307" y="5751872"/>
            <a:ext cx="11769216" cy="89950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[14] </a:t>
            </a:r>
            <a:r>
              <a:rPr lang="en-GB" sz="1000">
                <a:solidFill>
                  <a:schemeClr val="tx1"/>
                </a:solidFill>
              </a:rPr>
              <a:t>Chen, R. S., Soulsbury, C. D., Hench, K., van Oers, K., &amp; Hoffman, J. I. (2025). Predicted deleterious mutations reveal the genetic architecture of male reproductive success in a lekking bird. Nature Ecology &amp; Evolution, 9(10), 1924–1937. https://doi.org/10.1038/s41559-025-02802-8 </a:t>
            </a:r>
          </a:p>
          <a:p>
            <a:r>
              <a:rPr lang="en-GB" sz="1000" b="1">
                <a:solidFill>
                  <a:schemeClr val="tx1"/>
                </a:solidFill>
              </a:rPr>
              <a:t>[15] </a:t>
            </a:r>
            <a:r>
              <a:rPr lang="en-GB" sz="1000">
                <a:solidFill>
                  <a:schemeClr val="tx1"/>
                </a:solidFill>
              </a:rPr>
              <a:t>Bertorelle, G., Raffini, F., Bosse, M., Bortoluzzi, C., Iannucci, A., Trucchi, E., Morales, H. E., &amp; van Oosterhout, C. (2022). Genetic load: Genomic estimates and applications in non-model animals. Nature Reviews Genetics, 23(8), 492–503. https://doi.org/10.1038/s41576-022-00448-x</a:t>
            </a: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1CBC1C4-DC61-6F7E-6D99-3095615263A9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11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529F6014-3EE2-DCB5-2C77-AEDC39208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120" y="2301081"/>
            <a:ext cx="4117759" cy="1855892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561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"/>
    </mc:Choice>
    <mc:Fallback xmlns="">
      <p:transition spd="slow" advTm="17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6D50B-20B2-A6F7-7812-3C5FFB07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982A22-F006-5716-4B74-496A236B1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50798C-2DD8-3060-97F9-3080E079D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3CCA6AF-DCD3-E061-E250-86913D6C6857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D1D4409-9D7F-C7E9-7905-178B6B6EDAF8}"/>
              </a:ext>
            </a:extLst>
          </p:cNvPr>
          <p:cNvSpPr/>
          <p:nvPr/>
        </p:nvSpPr>
        <p:spPr>
          <a:xfrm>
            <a:off x="216307" y="196644"/>
            <a:ext cx="137651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Methods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360CB0C-E460-1200-D933-98E5B750015F}"/>
              </a:ext>
            </a:extLst>
          </p:cNvPr>
          <p:cNvSpPr/>
          <p:nvPr/>
        </p:nvSpPr>
        <p:spPr>
          <a:xfrm>
            <a:off x="216307" y="5179964"/>
            <a:ext cx="11769216" cy="147140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[10] </a:t>
            </a:r>
            <a:r>
              <a:rPr lang="en-GB" sz="1000">
                <a:solidFill>
                  <a:schemeClr val="tx1"/>
                </a:solidFill>
              </a:rPr>
              <a:t>Mackay, T. F. C., Richards, S., Stone, E. A., Barbadilla, A., Ayroles, J. F., Zhu, D., Casillas, S., Han, Y., Magwire, M. M., Cridland, J. M., Richardson, M. F., Anholt, R. R. H., Barrón, M., Bess, C., Blankenburg, K. P., Carbone, M. A., Castellano, D., Chaboub, L., Duncan, L., … Gibbs, R. A. (2012). The Drosophila melanogaster Genetic Reference Panel. Nature, 482(7384), 173–178. https://doi.org/10.1038/nature10811</a:t>
            </a:r>
          </a:p>
          <a:p>
            <a:r>
              <a:rPr lang="en-GB" sz="1000" b="1">
                <a:solidFill>
                  <a:schemeClr val="tx1"/>
                </a:solidFill>
              </a:rPr>
              <a:t>[11]</a:t>
            </a:r>
            <a:r>
              <a:rPr lang="en-GB" sz="1000">
                <a:solidFill>
                  <a:schemeClr val="tx1"/>
                </a:solidFill>
              </a:rPr>
              <a:t> Cingolani, P., Platts, A., Wang, L. L., Coon, M., Nguyen, T., Wang, L., Land, S. J., Lu, X., &amp; Ruden, D. M. (2012). A program for annotating and predicting the effects of single nucleotide polymorphisms, SnpEff. Fly, 6(2), 80–92. https://doi.org/10.4161/fly.19695</a:t>
            </a:r>
          </a:p>
          <a:p>
            <a:r>
              <a:rPr lang="en-GB" sz="1000" b="1">
                <a:solidFill>
                  <a:schemeClr val="tx1"/>
                </a:solidFill>
              </a:rPr>
              <a:t>[12] </a:t>
            </a:r>
            <a:r>
              <a:rPr lang="en-GB" sz="1000">
                <a:solidFill>
                  <a:schemeClr val="tx1"/>
                </a:solidFill>
              </a:rPr>
              <a:t>Davydov, E. V., Goode, D. L., Sirota, M., Cooper, G. M., Sidow, A., &amp; Batzoglou, S. (2010). Identifying a high fraction of the human genome to be under selective constraint using GERP++. PLoS Computational Biology, 6(12), e1001025. https://doi.org/10.1371/journal.pcbi.1001025 </a:t>
            </a:r>
          </a:p>
          <a:p>
            <a:r>
              <a:rPr lang="en-GB" sz="1000" b="1">
                <a:solidFill>
                  <a:schemeClr val="tx1"/>
                </a:solidFill>
              </a:rPr>
              <a:t>[13] </a:t>
            </a:r>
            <a:r>
              <a:rPr lang="en-GB" sz="1000">
                <a:solidFill>
                  <a:schemeClr val="tx1"/>
                </a:solidFill>
              </a:rPr>
              <a:t>Wong, H. W. S., &amp; Holman, L. (2023). Pleiotropic fitness effects across sexes and ages in the Drosophila genome and transcriptome. Evolution, 77(12), 2642–2655. https://doi.org/10.1093/evolut/qpad163</a:t>
            </a:r>
          </a:p>
          <a:p>
            <a:r>
              <a:rPr lang="en-GB" sz="1000" b="1">
                <a:solidFill>
                  <a:schemeClr val="tx1"/>
                </a:solidFill>
              </a:rPr>
              <a:t>[16] </a:t>
            </a:r>
            <a:r>
              <a:rPr lang="en-GB" sz="1000">
                <a:solidFill>
                  <a:schemeClr val="tx1"/>
                </a:solidFill>
              </a:rPr>
              <a:t>Bürkner, P.-C. (2017). brms: An R Package for Bayesian Multilevel Models Using Stan. Journal of Statistical Software, 80, 1–28. https://doi.org/10.18637/jss.v080.i01</a:t>
            </a: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8695118-A230-7D2A-E1D9-9893781194A7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12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E8F8EAF-DED3-5B91-DC4A-DE4969D8FFCD}"/>
              </a:ext>
            </a:extLst>
          </p:cNvPr>
          <p:cNvSpPr/>
          <p:nvPr/>
        </p:nvSpPr>
        <p:spPr>
          <a:xfrm>
            <a:off x="470885" y="1741633"/>
            <a:ext cx="3643915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Drosophila genetic reference panel (DGRP) genotypes </a:t>
            </a:r>
            <a:r>
              <a:rPr lang="de-DE" baseline="30000">
                <a:solidFill>
                  <a:schemeClr val="tx1"/>
                </a:solidFill>
              </a:rPr>
              <a:t>[10]</a:t>
            </a:r>
            <a:endParaRPr lang="de-DE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Pfeil: Chevron 8">
            <a:extLst>
              <a:ext uri="{FF2B5EF4-FFF2-40B4-BE49-F238E27FC236}">
                <a16:creationId xmlns:a16="http://schemas.microsoft.com/office/drawing/2014/main" id="{410ABDB5-10C0-8DD4-4688-A50D46A8FCE0}"/>
              </a:ext>
            </a:extLst>
          </p:cNvPr>
          <p:cNvSpPr/>
          <p:nvPr/>
        </p:nvSpPr>
        <p:spPr>
          <a:xfrm>
            <a:off x="4176004" y="1879204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DD74EB1-D4BB-407A-46FC-ADC18FD51ED5}"/>
              </a:ext>
            </a:extLst>
          </p:cNvPr>
          <p:cNvSpPr/>
          <p:nvPr/>
        </p:nvSpPr>
        <p:spPr>
          <a:xfrm>
            <a:off x="4502679" y="1741633"/>
            <a:ext cx="2934108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Identification of putatively deleterious variants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3F1BF4F-A1C2-0D4B-3FF5-E597300F411D}"/>
              </a:ext>
            </a:extLst>
          </p:cNvPr>
          <p:cNvSpPr/>
          <p:nvPr/>
        </p:nvSpPr>
        <p:spPr>
          <a:xfrm>
            <a:off x="4502678" y="2515647"/>
            <a:ext cx="1593322" cy="580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Via SnpEff </a:t>
            </a:r>
            <a:r>
              <a:rPr lang="de-DE" baseline="30000">
                <a:solidFill>
                  <a:schemeClr val="tx1"/>
                </a:solidFill>
              </a:rPr>
              <a:t>[11]</a:t>
            </a:r>
            <a:endParaRPr lang="de-DE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AEE68C6-1FB4-9E79-46C2-4B1F6B21B6A1}"/>
              </a:ext>
            </a:extLst>
          </p:cNvPr>
          <p:cNvSpPr/>
          <p:nvPr/>
        </p:nvSpPr>
        <p:spPr>
          <a:xfrm>
            <a:off x="4502678" y="3071363"/>
            <a:ext cx="1593321" cy="580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Via GERP </a:t>
            </a:r>
            <a:r>
              <a:rPr lang="de-DE" baseline="30000">
                <a:solidFill>
                  <a:schemeClr val="tx1"/>
                </a:solidFill>
              </a:rPr>
              <a:t>[12]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Pfeil: Chevron 20">
            <a:extLst>
              <a:ext uri="{FF2B5EF4-FFF2-40B4-BE49-F238E27FC236}">
                <a16:creationId xmlns:a16="http://schemas.microsoft.com/office/drawing/2014/main" id="{9478843E-55C9-A247-C8CA-63280A3ED4FF}"/>
              </a:ext>
            </a:extLst>
          </p:cNvPr>
          <p:cNvSpPr/>
          <p:nvPr/>
        </p:nvSpPr>
        <p:spPr>
          <a:xfrm>
            <a:off x="7497991" y="1879204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FD7BB52-370A-654A-EB87-182BBEDA50D2}"/>
              </a:ext>
            </a:extLst>
          </p:cNvPr>
          <p:cNvSpPr/>
          <p:nvPr/>
        </p:nvSpPr>
        <p:spPr>
          <a:xfrm>
            <a:off x="7819919" y="1741633"/>
            <a:ext cx="2018401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Match with fitness essays </a:t>
            </a:r>
            <a:r>
              <a:rPr lang="de-DE" baseline="30000">
                <a:solidFill>
                  <a:schemeClr val="tx1"/>
                </a:solidFill>
              </a:rPr>
              <a:t>[13]</a:t>
            </a:r>
            <a:endParaRPr lang="de-DE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Pfeil: Chevron 30">
            <a:extLst>
              <a:ext uri="{FF2B5EF4-FFF2-40B4-BE49-F238E27FC236}">
                <a16:creationId xmlns:a16="http://schemas.microsoft.com/office/drawing/2014/main" id="{7132943B-83FB-B120-142E-CC7FCC843020}"/>
              </a:ext>
            </a:extLst>
          </p:cNvPr>
          <p:cNvSpPr/>
          <p:nvPr/>
        </p:nvSpPr>
        <p:spPr>
          <a:xfrm>
            <a:off x="9921399" y="1879204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90FAD10-F1D8-83A9-DA6F-B4F2F8437002}"/>
              </a:ext>
            </a:extLst>
          </p:cNvPr>
          <p:cNvSpPr/>
          <p:nvPr/>
        </p:nvSpPr>
        <p:spPr>
          <a:xfrm>
            <a:off x="10253157" y="1741633"/>
            <a:ext cx="1443135" cy="774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Calculate genetic load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4BFB3A5F-697D-2D86-9C26-7F3CAD6739E3}"/>
              </a:ext>
            </a:extLst>
          </p:cNvPr>
          <p:cNvSpPr/>
          <p:nvPr/>
        </p:nvSpPr>
        <p:spPr>
          <a:xfrm rot="5400000">
            <a:off x="10841988" y="2486241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4226D4B-2AE3-A0EB-B2EF-1679CF38D408}"/>
              </a:ext>
            </a:extLst>
          </p:cNvPr>
          <p:cNvSpPr/>
          <p:nvPr/>
        </p:nvSpPr>
        <p:spPr>
          <a:xfrm>
            <a:off x="6458849" y="3340054"/>
            <a:ext cx="5252391" cy="78926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ln w="0"/>
                <a:solidFill>
                  <a:schemeClr val="tx1"/>
                </a:solidFill>
              </a:rPr>
              <a:t>Fitness ~ </a:t>
            </a:r>
          </a:p>
          <a:p>
            <a:pPr algn="ctr"/>
            <a:r>
              <a:rPr lang="de-DE">
                <a:ln w="0"/>
                <a:solidFill>
                  <a:schemeClr val="tx1"/>
                </a:solidFill>
              </a:rPr>
              <a:t>Genetic load * Sex * Chromosome type + DGRP line</a:t>
            </a:r>
            <a:endParaRPr lang="en-GB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429CF11F-F99D-1A31-6083-1744D1C63008}"/>
              </a:ext>
            </a:extLst>
          </p:cNvPr>
          <p:cNvSpPr/>
          <p:nvPr/>
        </p:nvSpPr>
        <p:spPr>
          <a:xfrm>
            <a:off x="9103361" y="2944534"/>
            <a:ext cx="2607880" cy="395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ln w="0"/>
                <a:solidFill>
                  <a:schemeClr val="tx1"/>
                </a:solidFill>
              </a:rPr>
              <a:t>Statistical evaluation </a:t>
            </a:r>
            <a:r>
              <a:rPr lang="de-DE" baseline="30000">
                <a:ln w="0"/>
                <a:solidFill>
                  <a:schemeClr val="tx1"/>
                </a:solidFill>
              </a:rPr>
              <a:t>[16]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26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"/>
    </mc:Choice>
    <mc:Fallback xmlns="">
      <p:transition spd="slow" advTm="17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68D8E-8573-D133-02DB-FB420DFC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5B8B3-54E8-047F-76EF-4E5AABB16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38B990-E0EF-E68C-226D-636D041F5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31B4CC6-7682-83E3-0FD7-BEFBFF4314B8}"/>
              </a:ext>
            </a:extLst>
          </p:cNvPr>
          <p:cNvSpPr/>
          <p:nvPr/>
        </p:nvSpPr>
        <p:spPr>
          <a:xfrm>
            <a:off x="216306" y="196644"/>
            <a:ext cx="5879694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Putatively deleterious variants with high impact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BAC9EE2-6264-C10E-2728-D4EC2C03C363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13</a:t>
            </a:r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5A0A821-7005-BB4C-B922-37E62219BE33}"/>
              </a:ext>
            </a:extLst>
          </p:cNvPr>
          <p:cNvGrpSpPr/>
          <p:nvPr/>
        </p:nvGrpSpPr>
        <p:grpSpPr>
          <a:xfrm>
            <a:off x="216307" y="198927"/>
            <a:ext cx="11769216" cy="6435218"/>
            <a:chOff x="216307" y="198927"/>
            <a:chExt cx="11769216" cy="6435218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20643F70-2F1C-C74A-C553-D4ED068CF9B1}"/>
                </a:ext>
              </a:extLst>
            </p:cNvPr>
            <p:cNvSpPr/>
            <p:nvPr/>
          </p:nvSpPr>
          <p:spPr>
            <a:xfrm>
              <a:off x="216307" y="198927"/>
              <a:ext cx="11769216" cy="643521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GB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C9458015-0406-D516-02C9-0A7FFF441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9855" y="1037618"/>
              <a:ext cx="9352290" cy="5342861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A4A05464-78B6-D931-C961-C9F724BF7008}"/>
                </a:ext>
              </a:extLst>
            </p:cNvPr>
            <p:cNvSpPr/>
            <p:nvPr/>
          </p:nvSpPr>
          <p:spPr>
            <a:xfrm>
              <a:off x="5520690" y="6188392"/>
              <a:ext cx="541020" cy="1323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6855428E-25B4-14A5-80BB-29AE334ACB22}"/>
                </a:ext>
              </a:extLst>
            </p:cNvPr>
            <p:cNvSpPr/>
            <p:nvPr/>
          </p:nvSpPr>
          <p:spPr>
            <a:xfrm>
              <a:off x="6854190" y="6188392"/>
              <a:ext cx="541020" cy="1154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Rechteck 8">
            <a:extLst>
              <a:ext uri="{FF2B5EF4-FFF2-40B4-BE49-F238E27FC236}">
                <a16:creationId xmlns:a16="http://schemas.microsoft.com/office/drawing/2014/main" id="{07F61075-7A53-2890-FD39-C1D8F8BF8EB1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13</a:t>
            </a: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61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"/>
    </mc:Choice>
    <mc:Fallback xmlns="">
      <p:transition spd="slow" advTm="14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875C2-A746-1F15-D9C8-70CE474D8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6431C4-FF01-EBF4-F540-9CE43CF93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845E15-6B03-BF41-1313-2A8B8A417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AD9B3AE-0C68-4D5D-A401-AEA43D17C450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0A996AB-860E-0D84-8942-1AA37036DC68}"/>
              </a:ext>
            </a:extLst>
          </p:cNvPr>
          <p:cNvSpPr/>
          <p:nvPr/>
        </p:nvSpPr>
        <p:spPr>
          <a:xfrm>
            <a:off x="216306" y="196644"/>
            <a:ext cx="5879694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Putatively deleterious variants with high impact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CEF7BDF5-8A6C-1C30-0797-5390B22EFB4F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14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FB75996-EFFC-C169-7F9C-836A4F29F479}"/>
              </a:ext>
            </a:extLst>
          </p:cNvPr>
          <p:cNvSpPr/>
          <p:nvPr/>
        </p:nvSpPr>
        <p:spPr>
          <a:xfrm>
            <a:off x="8717673" y="2140622"/>
            <a:ext cx="2905054" cy="286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Across 4.219.825 variants: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282 X-linked putatively deleterious variants</a:t>
            </a:r>
            <a:endParaRPr lang="de-DE" b="1">
              <a:solidFill>
                <a:schemeClr val="tx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3.885 autosomal </a:t>
            </a: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   putatively deleterious </a:t>
            </a: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   variants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3B6A20D-BD9D-0FB9-FE11-C420D43FDC83}"/>
              </a:ext>
            </a:extLst>
          </p:cNvPr>
          <p:cNvGrpSpPr/>
          <p:nvPr/>
        </p:nvGrpSpPr>
        <p:grpSpPr>
          <a:xfrm>
            <a:off x="522338" y="1191678"/>
            <a:ext cx="7832539" cy="4474644"/>
            <a:chOff x="522338" y="1191678"/>
            <a:chExt cx="7832539" cy="4474644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31E714A2-38B2-8C66-5834-062531404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2338" y="1191678"/>
              <a:ext cx="7832539" cy="4474644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54A341AE-5D96-E40B-C924-B491C09FF84D}"/>
                </a:ext>
              </a:extLst>
            </p:cNvPr>
            <p:cNvSpPr/>
            <p:nvPr/>
          </p:nvSpPr>
          <p:spPr>
            <a:xfrm>
              <a:off x="3944536" y="5509261"/>
              <a:ext cx="461010" cy="990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3A7C5220-EC66-D105-C602-F556F96CBDD8}"/>
                </a:ext>
              </a:extLst>
            </p:cNvPr>
            <p:cNvSpPr/>
            <p:nvPr/>
          </p:nvSpPr>
          <p:spPr>
            <a:xfrm>
              <a:off x="5079916" y="5509261"/>
              <a:ext cx="461010" cy="990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6511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"/>
    </mc:Choice>
    <mc:Fallback xmlns="">
      <p:transition spd="slow" advTm="19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1C1F2-DE6C-31D5-1703-C2414BBB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19FD2-262B-5EC7-770D-99BCA976F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FAEFA5-27E5-2D6E-6820-C8E70BE78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E7B81E1-4C1B-B349-C45D-509550816C68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8FB62B0-7E14-0891-CF66-F322527F73DA}"/>
              </a:ext>
            </a:extLst>
          </p:cNvPr>
          <p:cNvSpPr/>
          <p:nvPr/>
        </p:nvSpPr>
        <p:spPr>
          <a:xfrm>
            <a:off x="216306" y="196644"/>
            <a:ext cx="476864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Evolutionary constraint across the genome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7720CF3-9C94-5581-A044-F23BC5AD1FB2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15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99549B-C017-C347-3A02-6FF2847C8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831" y="1006593"/>
            <a:ext cx="9246338" cy="5282331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81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"/>
    </mc:Choice>
    <mc:Fallback xmlns="">
      <p:transition spd="slow" advTm="18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E3120-B2A6-A8B2-9BC6-392430292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BCA0D4-77D2-CCD5-FB8B-B89EE925B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AC7BBA-DD2D-5B9A-4D2B-503C0D935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A383B6D-70E8-811B-93C7-1DCD7E439EF0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ABC267F-FBCF-2CD1-F9D8-70924332F56B}"/>
              </a:ext>
            </a:extLst>
          </p:cNvPr>
          <p:cNvSpPr/>
          <p:nvPr/>
        </p:nvSpPr>
        <p:spPr>
          <a:xfrm>
            <a:off x="216306" y="196644"/>
            <a:ext cx="476864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Evolutionary constraint across the genome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B6B11C8-EFC6-0D5E-BC4D-079DA5D0E94B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15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EA45F9-E68F-FE24-788F-23E711D31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5" y="1274623"/>
            <a:ext cx="7821531" cy="4468354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40065BB4-FB5A-E9F1-1182-8F9069D9ED44}"/>
                  </a:ext>
                </a:extLst>
              </p:cNvPr>
              <p:cNvSpPr/>
              <p:nvPr/>
            </p:nvSpPr>
            <p:spPr>
              <a:xfrm>
                <a:off x="8717673" y="1710813"/>
                <a:ext cx="2905054" cy="34270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de-DE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de-DE">
                    <a:solidFill>
                      <a:schemeClr val="tx1"/>
                    </a:solidFill>
                  </a:rPr>
                  <a:t>   RS </a:t>
                </a:r>
                <a14:m>
                  <m:oMath xmlns:m="http://schemas.openxmlformats.org/officeDocument/2006/math">
                    <m:r>
                      <a:rPr lang="de-D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de-DE">
                    <a:solidFill>
                      <a:schemeClr val="tx1"/>
                    </a:solidFill>
                  </a:rPr>
                  <a:t> 4 :     putatively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de-DE">
                    <a:solidFill>
                      <a:schemeClr val="tx1"/>
                    </a:solidFill>
                  </a:rPr>
                  <a:t>   deleterious variant </a:t>
                </a:r>
                <a:r>
                  <a:rPr lang="de-DE" baseline="30000">
                    <a:solidFill>
                      <a:schemeClr val="tx1"/>
                    </a:solidFill>
                  </a:rPr>
                  <a:t>[14, 17]</a:t>
                </a:r>
                <a:endParaRPr lang="de-DE">
                  <a:solidFill>
                    <a:schemeClr val="tx1"/>
                  </a:solidFill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>
                    <a:solidFill>
                      <a:schemeClr val="tx1"/>
                    </a:solidFill>
                  </a:rPr>
                  <a:t>196.374 X-linked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GB">
                    <a:solidFill>
                      <a:schemeClr val="tx1"/>
                    </a:solidFill>
                  </a:rPr>
                  <a:t>       putatively deleterious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GB">
                    <a:solidFill>
                      <a:schemeClr val="tx1"/>
                    </a:solidFill>
                  </a:rPr>
                  <a:t>       variants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>
                    <a:solidFill>
                      <a:schemeClr val="tx1"/>
                    </a:solidFill>
                  </a:rPr>
                  <a:t> 1.302.241 autosomal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GB">
                    <a:solidFill>
                      <a:schemeClr val="tx1"/>
                    </a:solidFill>
                  </a:rPr>
                  <a:t>        putatively deleterious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GB">
                    <a:solidFill>
                      <a:schemeClr val="tx1"/>
                    </a:solidFill>
                  </a:rPr>
                  <a:t>        variants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40065BB4-FB5A-E9F1-1182-8F9069D9ED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673" y="1710813"/>
                <a:ext cx="2905054" cy="34270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14D52A65-C48A-6D04-51EC-7D90E2CE3398}"/>
              </a:ext>
            </a:extLst>
          </p:cNvPr>
          <p:cNvSpPr/>
          <p:nvPr/>
        </p:nvSpPr>
        <p:spPr>
          <a:xfrm>
            <a:off x="216307" y="6046839"/>
            <a:ext cx="11769216" cy="60453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[14]</a:t>
            </a:r>
            <a:r>
              <a:rPr lang="en-GB" sz="1000">
                <a:solidFill>
                  <a:schemeClr val="tx1"/>
                </a:solidFill>
              </a:rPr>
              <a:t> Chen, R. S., Soulsbury, C. D., Hench, K., van Oers, K., &amp; Hoffman, J. I. (2025). Predicted deleterious mutations reveal the genetic architecture of male reproductive success in a lekking bird. Nature Ecology &amp; Evolution, 9(10), 1924–1937. https://doi.org/10.1038/s41559-025-02802-8 </a:t>
            </a:r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[17] </a:t>
            </a:r>
            <a:r>
              <a:rPr lang="en-GB" sz="1000">
                <a:solidFill>
                  <a:schemeClr val="tx1"/>
                </a:solidFill>
              </a:rPr>
              <a:t>Smeds, L., &amp; Ellegren, H. (2023). From high masked to high realized genetic load in inbred Scandinavian wolves. Molecular Ecology, 32(7), 1567–1580. https://doi.org/10.1111/mec.16802 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26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"/>
    </mc:Choice>
    <mc:Fallback xmlns="">
      <p:transition spd="slow" advTm="355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85088-A78C-29D0-8308-F475A3BE8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5B702D-3E7B-C822-8CE3-EDDC81BD8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DB10E1-B9CB-B30E-737F-6BD76A31A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AA72ED0-59DF-AEE3-1551-1A9DD3C133C1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47FC782-F526-B816-AA23-9D552E8F7D5F}"/>
              </a:ext>
            </a:extLst>
          </p:cNvPr>
          <p:cNvSpPr/>
          <p:nvPr/>
        </p:nvSpPr>
        <p:spPr>
          <a:xfrm>
            <a:off x="216306" y="196644"/>
            <a:ext cx="5879694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Relationship between genetic load and fitness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0B43C95-B73F-6206-7E7D-D200326FE9BB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16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C8C7D34-2658-6639-674F-4A357BC76CAB}"/>
              </a:ext>
            </a:extLst>
          </p:cNvPr>
          <p:cNvSpPr/>
          <p:nvPr/>
        </p:nvSpPr>
        <p:spPr>
          <a:xfrm>
            <a:off x="8756857" y="2048162"/>
            <a:ext cx="2891680" cy="8213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Range of values similar to previous studies </a:t>
            </a:r>
            <a:r>
              <a:rPr lang="de-DE" baseline="30000">
                <a:solidFill>
                  <a:schemeClr val="tx1"/>
                </a:solidFill>
              </a:rPr>
              <a:t>[13]</a:t>
            </a: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9F858DE-ABED-DA3A-904B-B1B0359F5A5D}"/>
              </a:ext>
            </a:extLst>
          </p:cNvPr>
          <p:cNvSpPr/>
          <p:nvPr/>
        </p:nvSpPr>
        <p:spPr>
          <a:xfrm>
            <a:off x="216307" y="6210233"/>
            <a:ext cx="11769216" cy="44113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[10] </a:t>
            </a:r>
            <a:r>
              <a:rPr lang="en-GB" sz="1000">
                <a:solidFill>
                  <a:schemeClr val="tx1"/>
                </a:solidFill>
              </a:rPr>
              <a:t>Wong, H. W. S., &amp; Holman, L. (2023). Pleiotropic fitness effects across sexes and ages in the Drosophila genome and transcriptome. Evolution, 77(12), 2642–2655. https://doi.org/10.1093/evolut/qpad163</a:t>
            </a:r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EA8359B-D9D0-4743-1B14-10B88EB3FB1B}"/>
              </a:ext>
            </a:extLst>
          </p:cNvPr>
          <p:cNvSpPr/>
          <p:nvPr/>
        </p:nvSpPr>
        <p:spPr>
          <a:xfrm>
            <a:off x="8756857" y="3031141"/>
            <a:ext cx="2891680" cy="822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No relationship between </a:t>
            </a: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   genetic load and fitness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Pfeil: Chevron 9">
            <a:extLst>
              <a:ext uri="{FF2B5EF4-FFF2-40B4-BE49-F238E27FC236}">
                <a16:creationId xmlns:a16="http://schemas.microsoft.com/office/drawing/2014/main" id="{9B2AEB94-C95D-CB78-5FCF-2D7A743E5B6A}"/>
              </a:ext>
            </a:extLst>
          </p:cNvPr>
          <p:cNvSpPr/>
          <p:nvPr/>
        </p:nvSpPr>
        <p:spPr>
          <a:xfrm>
            <a:off x="8610747" y="3207800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16E9E07-0C94-F367-824F-C9CC24025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19" y="1301149"/>
            <a:ext cx="7821991" cy="4469709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067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7"/>
    </mc:Choice>
    <mc:Fallback xmlns="">
      <p:transition spd="slow" advTm="327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416A1-C54E-7791-EA59-4DFAF268F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C0F8B2-97A7-CE3D-BB0C-C362974AB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9E5DE7-F1ED-3D58-BE4B-E8203DE71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135FCA8-7BCF-EC31-9353-20A2BB08B70B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E3FC315-DD42-B1BC-9A02-7055D46671D8}"/>
              </a:ext>
            </a:extLst>
          </p:cNvPr>
          <p:cNvSpPr/>
          <p:nvPr/>
        </p:nvSpPr>
        <p:spPr>
          <a:xfrm>
            <a:off x="216305" y="196644"/>
            <a:ext cx="6066507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Differences in effect size between sexes and life-stages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76DABB1-8838-876F-D00F-A6C046B00CD1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17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6B6BB58-4B46-A31B-4142-4119DB750059}"/>
              </a:ext>
            </a:extLst>
          </p:cNvPr>
          <p:cNvSpPr/>
          <p:nvPr/>
        </p:nvSpPr>
        <p:spPr>
          <a:xfrm>
            <a:off x="8835513" y="3040973"/>
            <a:ext cx="2905054" cy="822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No effect of antagonistic pleiotropy in aging </a:t>
            </a:r>
            <a:r>
              <a:rPr lang="de-DE" baseline="30000">
                <a:solidFill>
                  <a:schemeClr val="tx1"/>
                </a:solidFill>
              </a:rPr>
              <a:t>[18, 19]</a:t>
            </a: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EA640D7-E375-FDBE-19C7-C00C827B585E}"/>
              </a:ext>
            </a:extLst>
          </p:cNvPr>
          <p:cNvSpPr/>
          <p:nvPr/>
        </p:nvSpPr>
        <p:spPr>
          <a:xfrm>
            <a:off x="216307" y="6107068"/>
            <a:ext cx="11769216" cy="54430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[18] </a:t>
            </a:r>
            <a:r>
              <a:rPr lang="en-GB" sz="1000">
                <a:solidFill>
                  <a:schemeClr val="tx1"/>
                </a:solidFill>
              </a:rPr>
              <a:t>Williams, G. C. (1957). Pleiotropy, Natural Selection, and the Evolution of Senescence. Evolution, 11(4), 398–411. https://doi.org/10.1111/j.1558-5646.1957.tb02911.x</a:t>
            </a:r>
          </a:p>
          <a:p>
            <a:r>
              <a:rPr lang="en-GB" sz="1000" b="1">
                <a:solidFill>
                  <a:schemeClr val="tx1"/>
                </a:solidFill>
              </a:rPr>
              <a:t>[19] </a:t>
            </a:r>
            <a:r>
              <a:rPr lang="en-GB" sz="1000">
                <a:solidFill>
                  <a:schemeClr val="tx1"/>
                </a:solidFill>
              </a:rPr>
              <a:t>Austad, S. N., &amp; Hoffman, J. M. (2018). Is antagonistic pleiotropy ubiquitous in aging biology? Evolution, Medicine, and Public Health, 2018(1), 287–294. https://doi.org/10.1093/emph/eoy033</a:t>
            </a:r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A018492-F25D-0F86-3DB8-ABC72B58A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33" y="1131422"/>
            <a:ext cx="8123608" cy="4642062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527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"/>
    </mc:Choice>
    <mc:Fallback xmlns="">
      <p:transition spd="slow" advTm="222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D7514-9BE9-B26A-7880-12386163D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897251-1156-AD25-B6F9-B1D88165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10D85A-9999-2F15-0393-8448623A0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B1C96F0-5AB0-2861-4774-9BCEBCC20FA2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F8CD838-62F1-41A1-CF84-FEDB1E08FBAF}"/>
              </a:ext>
            </a:extLst>
          </p:cNvPr>
          <p:cNvSpPr/>
          <p:nvPr/>
        </p:nvSpPr>
        <p:spPr>
          <a:xfrm>
            <a:off x="216306" y="196644"/>
            <a:ext cx="3736262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Genetic purging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66C7F8A-451E-37CB-83D5-7224893E7B70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18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8AFD4C8-5F0C-2C4A-D516-46CCA37576BB}"/>
              </a:ext>
            </a:extLst>
          </p:cNvPr>
          <p:cNvSpPr/>
          <p:nvPr/>
        </p:nvSpPr>
        <p:spPr>
          <a:xfrm>
            <a:off x="3608959" y="2927555"/>
            <a:ext cx="4974082" cy="10028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The findings did not match the expectations based on theory – but we can try to explain them</a:t>
            </a: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80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"/>
    </mc:Choice>
    <mc:Fallback xmlns="">
      <p:transition spd="slow" advTm="17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B21B6-25AC-0110-3E20-BB85462FC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FEA019-0BCF-3846-B602-09FFD6E70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C3812C-EA00-BDB0-D13D-37A1BC6B8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DB2988E-CA38-177A-3662-2817F2E07C3B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2461D21-BE4A-C17D-09F9-C39A95C95FE0}"/>
              </a:ext>
            </a:extLst>
          </p:cNvPr>
          <p:cNvSpPr/>
          <p:nvPr/>
        </p:nvSpPr>
        <p:spPr>
          <a:xfrm>
            <a:off x="216306" y="196644"/>
            <a:ext cx="3736262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Genetic purging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C5B5539-6249-4881-30A0-2B3606B2C345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19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57B777C-C91E-1CCB-E7CD-9D7ECB0086DD}"/>
              </a:ext>
            </a:extLst>
          </p:cNvPr>
          <p:cNvSpPr/>
          <p:nvPr/>
        </p:nvSpPr>
        <p:spPr>
          <a:xfrm>
            <a:off x="216307" y="5279922"/>
            <a:ext cx="11769216" cy="13714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[20] </a:t>
            </a:r>
            <a:r>
              <a:rPr lang="en-GB" sz="1000">
                <a:solidFill>
                  <a:schemeClr val="tx1"/>
                </a:solidFill>
              </a:rPr>
              <a:t>Crnokrak, P., &amp; Barrett, S. C. H. (2002). PERSPECTIVE: PURGING THE GENETIC LOAD: A REVIEW OF THE EXPERIMENTAL EVIDENCE. Evolution, 56(12), 2347–2358. https://doi.org/10.1111/j.0014-3820.2002.tb00160.x</a:t>
            </a:r>
          </a:p>
          <a:p>
            <a:r>
              <a:rPr lang="en-GB" sz="1000" b="1">
                <a:solidFill>
                  <a:schemeClr val="tx1"/>
                </a:solidFill>
              </a:rPr>
              <a:t>[21] </a:t>
            </a:r>
            <a:r>
              <a:rPr lang="en-GB" sz="1000">
                <a:solidFill>
                  <a:schemeClr val="tx1"/>
                </a:solidFill>
              </a:rPr>
              <a:t>García-Dorado, A. (2012). Understanding and Predicting the Fitness Decline of Shrunk Populations: Inbreeding, Purging, Mutation, and Standard Selection. Genetics, 190(4), 1461–1476. https://doi.org/10.1534/genetics.111.135541</a:t>
            </a:r>
          </a:p>
          <a:p>
            <a:r>
              <a:rPr lang="en-GB" sz="1000" b="1">
                <a:solidFill>
                  <a:schemeClr val="tx1"/>
                </a:solidFill>
              </a:rPr>
              <a:t>[22] </a:t>
            </a:r>
            <a:r>
              <a:rPr lang="en-GB" sz="1000">
                <a:solidFill>
                  <a:schemeClr val="tx1"/>
                </a:solidFill>
              </a:rPr>
              <a:t>Khan, A., Patel, K., Shukla, H., Viswanathan, A., van der Valk, T., Borthakur, U., Nigam, P., Zachariah, A., Jhala, Y. V., Kardos, M., &amp; Ramakrishnan, U. (2021). Genomic evidence for inbreeding depression and purging of deleterious genetic variation in Indian tigers. Proceedings of the National Academy of Sciences, 118(49), e2023018118. https://doi.org/10.1073/pnas.2023018118 </a:t>
            </a:r>
          </a:p>
          <a:p>
            <a:r>
              <a:rPr lang="en-GB" sz="1000" b="1">
                <a:solidFill>
                  <a:schemeClr val="tx1"/>
                </a:solidFill>
              </a:rPr>
              <a:t>[23] </a:t>
            </a:r>
            <a:r>
              <a:rPr lang="en-GB" sz="1000">
                <a:solidFill>
                  <a:schemeClr val="tx1"/>
                </a:solidFill>
              </a:rPr>
              <a:t>Kleinman-Ruiz, D., Lucena-Perez, M., Villanueva, B., Fernández, J., Saveljev, A. P., Ratkiewicz, M., Schmidt, K., Galtier, N., García-Dorado, A., &amp; Godoy, J. A. (2022). Purging of deleterious burden in the endangered Iberian lynx. Proceedings of the National Academy of Sciences, 119(11), e2110614119. https://doi.org/10.1073/pnas.2110614119 </a:t>
            </a: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2F0E55C-08E6-C9C5-5A37-AADD5660B162}"/>
              </a:ext>
            </a:extLst>
          </p:cNvPr>
          <p:cNvSpPr/>
          <p:nvPr/>
        </p:nvSpPr>
        <p:spPr>
          <a:xfrm>
            <a:off x="423805" y="914131"/>
            <a:ext cx="2293152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1) Genetic purging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E4D34E2-81B3-6689-1F7A-22804B255AEA}"/>
              </a:ext>
            </a:extLst>
          </p:cNvPr>
          <p:cNvSpPr/>
          <p:nvPr/>
        </p:nvSpPr>
        <p:spPr>
          <a:xfrm>
            <a:off x="1100902" y="1708557"/>
            <a:ext cx="4249796" cy="11667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Inbreeding depression because of the exposure of deleterious recessives and loss of genetic variability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Pfeil: nach links und rechts 13">
            <a:extLst>
              <a:ext uri="{FF2B5EF4-FFF2-40B4-BE49-F238E27FC236}">
                <a16:creationId xmlns:a16="http://schemas.microsoft.com/office/drawing/2014/main" id="{3E7E2842-92D9-E085-E55C-3230E8771B93}"/>
              </a:ext>
            </a:extLst>
          </p:cNvPr>
          <p:cNvSpPr/>
          <p:nvPr/>
        </p:nvSpPr>
        <p:spPr>
          <a:xfrm>
            <a:off x="5633720" y="2018594"/>
            <a:ext cx="883920" cy="39134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DAECEA4-FE01-5799-8A04-2D2A79B07A82}"/>
              </a:ext>
            </a:extLst>
          </p:cNvPr>
          <p:cNvSpPr/>
          <p:nvPr/>
        </p:nvSpPr>
        <p:spPr>
          <a:xfrm>
            <a:off x="6800662" y="1708557"/>
            <a:ext cx="4249796" cy="11667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Removal of deleterious sites from population after exposure to selection (genetic purging) </a:t>
            </a:r>
            <a:r>
              <a:rPr lang="de-DE" baseline="30000">
                <a:solidFill>
                  <a:schemeClr val="tx1"/>
                </a:solidFill>
              </a:rPr>
              <a:t>[20, 21, 22, 23]</a:t>
            </a: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AB19F42-2CE4-3750-A030-B8D071E4F7F0}"/>
              </a:ext>
            </a:extLst>
          </p:cNvPr>
          <p:cNvSpPr txBox="1"/>
          <p:nvPr/>
        </p:nvSpPr>
        <p:spPr>
          <a:xfrm>
            <a:off x="5543009" y="1651553"/>
            <a:ext cx="1166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Trade-off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92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"/>
    </mc:Choice>
    <mc:Fallback xmlns="">
      <p:transition spd="slow" advTm="17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CF3C2-02F1-1BF0-E72D-9B9FF497C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35C47C-4C0D-AEEA-7DAF-77D9EC3DC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09B86A-1F93-5B5D-0917-7A1317334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5A98436-A2D6-073B-FC3E-A515AACB119A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E5B6FE9-3543-5ACD-D410-906778BAC23D}"/>
              </a:ext>
            </a:extLst>
          </p:cNvPr>
          <p:cNvSpPr/>
          <p:nvPr/>
        </p:nvSpPr>
        <p:spPr>
          <a:xfrm>
            <a:off x="216306" y="196644"/>
            <a:ext cx="3736262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Genetic purging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3A9D697-2823-CBB0-3754-A1B5A09628AF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20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7DF00E6-7CAA-9A1A-93F9-125FDAD04494}"/>
              </a:ext>
            </a:extLst>
          </p:cNvPr>
          <p:cNvSpPr/>
          <p:nvPr/>
        </p:nvSpPr>
        <p:spPr>
          <a:xfrm>
            <a:off x="216307" y="5943869"/>
            <a:ext cx="11769216" cy="70750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[24] </a:t>
            </a:r>
            <a:r>
              <a:rPr lang="en-GB" sz="1000">
                <a:solidFill>
                  <a:schemeClr val="tx1"/>
                </a:solidFill>
              </a:rPr>
              <a:t>Hedrick, P. W., &amp; Garcia-Dorado, A. (2016). Understanding Inbreeding Depression, Purging, and Genetic Rescue. Trends in Ecology &amp; Evolution, 31(12), 940–952. https://doi.org/10.1016/j.tree.2016.09.005</a:t>
            </a:r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[25] </a:t>
            </a:r>
            <a:r>
              <a:rPr lang="en-GB" sz="1000">
                <a:solidFill>
                  <a:schemeClr val="tx1"/>
                </a:solidFill>
              </a:rPr>
              <a:t>Hedrick, P. W. (1994). Purging inbreeding depression and the probability of extinction: Full-sib mating. Heredity, 73(4), 363–372. https://doi.org/10.1038/hdy.1994.183</a:t>
            </a:r>
          </a:p>
          <a:p>
            <a:r>
              <a:rPr lang="en-GB" sz="1000" b="1">
                <a:solidFill>
                  <a:schemeClr val="tx1"/>
                </a:solidFill>
              </a:rPr>
              <a:t>[26] </a:t>
            </a:r>
            <a:r>
              <a:rPr lang="en-GB" sz="1000">
                <a:solidFill>
                  <a:schemeClr val="tx1"/>
                </a:solidFill>
              </a:rPr>
              <a:t>Simmons, M. J., &amp; Crow, J. F. (1977). MUTATIONS AFFECTING FITNESS IN DROSOPHILA POPULATIONS. Annual Review of Genetics, 11(Volume 11, 1977), 49–78. https://doi.org/10.1146/annurev.ge.11.120177.000405 </a:t>
            </a: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ACF37B1-FACF-A031-D841-D33D1083BFA7}"/>
              </a:ext>
            </a:extLst>
          </p:cNvPr>
          <p:cNvSpPr/>
          <p:nvPr/>
        </p:nvSpPr>
        <p:spPr>
          <a:xfrm>
            <a:off x="423805" y="914131"/>
            <a:ext cx="2293152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1) Genetic purging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ACA92C5-79DE-5052-03E0-F2D4F2C21417}"/>
              </a:ext>
            </a:extLst>
          </p:cNvPr>
          <p:cNvSpPr/>
          <p:nvPr/>
        </p:nvSpPr>
        <p:spPr>
          <a:xfrm>
            <a:off x="1100902" y="1708557"/>
            <a:ext cx="4249796" cy="11667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Inbreeding depression because of the exposure of deleterious recessives and loss of genetic variability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Pfeil: nach links und rechts 13">
            <a:extLst>
              <a:ext uri="{FF2B5EF4-FFF2-40B4-BE49-F238E27FC236}">
                <a16:creationId xmlns:a16="http://schemas.microsoft.com/office/drawing/2014/main" id="{5FF69120-B040-B116-5D77-9DB376861AE7}"/>
              </a:ext>
            </a:extLst>
          </p:cNvPr>
          <p:cNvSpPr/>
          <p:nvPr/>
        </p:nvSpPr>
        <p:spPr>
          <a:xfrm>
            <a:off x="5633720" y="2018594"/>
            <a:ext cx="883920" cy="39134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17ED9A2-436A-8AD1-6130-938A4E13F7F0}"/>
              </a:ext>
            </a:extLst>
          </p:cNvPr>
          <p:cNvSpPr/>
          <p:nvPr/>
        </p:nvSpPr>
        <p:spPr>
          <a:xfrm>
            <a:off x="6800662" y="1708557"/>
            <a:ext cx="4249796" cy="11667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Removal of deleterious sites from population after exposure to selection (genetic purging) </a:t>
            </a:r>
            <a:r>
              <a:rPr lang="de-DE" baseline="30000">
                <a:solidFill>
                  <a:schemeClr val="tx1"/>
                </a:solidFill>
              </a:rPr>
              <a:t>[20, 21, 22, 23]</a:t>
            </a: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701EDCC-B318-E215-4E64-321F617F6C86}"/>
              </a:ext>
            </a:extLst>
          </p:cNvPr>
          <p:cNvSpPr txBox="1"/>
          <p:nvPr/>
        </p:nvSpPr>
        <p:spPr>
          <a:xfrm>
            <a:off x="5543009" y="1651553"/>
            <a:ext cx="1166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Trade-off</a:t>
            </a:r>
            <a:endParaRPr lang="en-GB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BFFC2CD-267D-A82F-A268-8C09FCACA671}"/>
              </a:ext>
            </a:extLst>
          </p:cNvPr>
          <p:cNvSpPr/>
          <p:nvPr/>
        </p:nvSpPr>
        <p:spPr>
          <a:xfrm>
            <a:off x="6800662" y="3051773"/>
            <a:ext cx="4249796" cy="6667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Purging effects are stronger the more  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lethal the mutations are </a:t>
            </a:r>
            <a:r>
              <a:rPr lang="de-DE" baseline="30000">
                <a:solidFill>
                  <a:schemeClr val="tx1"/>
                </a:solidFill>
              </a:rPr>
              <a:t>[24]</a:t>
            </a: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2340199-E862-99C8-FDA4-7BF0F2454DA0}"/>
              </a:ext>
            </a:extLst>
          </p:cNvPr>
          <p:cNvSpPr/>
          <p:nvPr/>
        </p:nvSpPr>
        <p:spPr>
          <a:xfrm>
            <a:off x="2590896" y="4823658"/>
            <a:ext cx="6085647" cy="9406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20 generations of inbreeding may have cleansed the DGRP 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lines from (highly) deleterious variants</a:t>
            </a: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Pfeil: Chevron 23">
            <a:extLst>
              <a:ext uri="{FF2B5EF4-FFF2-40B4-BE49-F238E27FC236}">
                <a16:creationId xmlns:a16="http://schemas.microsoft.com/office/drawing/2014/main" id="{85F7BCD3-C5D6-3352-69FC-851764DD26DE}"/>
              </a:ext>
            </a:extLst>
          </p:cNvPr>
          <p:cNvSpPr/>
          <p:nvPr/>
        </p:nvSpPr>
        <p:spPr>
          <a:xfrm>
            <a:off x="2458160" y="5056216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Pfeil: Chevron 25">
            <a:extLst>
              <a:ext uri="{FF2B5EF4-FFF2-40B4-BE49-F238E27FC236}">
                <a16:creationId xmlns:a16="http://schemas.microsoft.com/office/drawing/2014/main" id="{9668114D-1144-13D2-195D-40E073DA5498}"/>
              </a:ext>
            </a:extLst>
          </p:cNvPr>
          <p:cNvSpPr/>
          <p:nvPr/>
        </p:nvSpPr>
        <p:spPr>
          <a:xfrm>
            <a:off x="2207929" y="5056216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D9476B2-172E-D25C-44B9-302993DC93B6}"/>
              </a:ext>
            </a:extLst>
          </p:cNvPr>
          <p:cNvSpPr/>
          <p:nvPr/>
        </p:nvSpPr>
        <p:spPr>
          <a:xfrm>
            <a:off x="6800662" y="3718561"/>
            <a:ext cx="4249796" cy="9455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Half </a:t>
            </a:r>
            <a:r>
              <a:rPr lang="en-GB">
                <a:solidFill>
                  <a:schemeClr val="tx1"/>
                </a:solidFill>
              </a:rPr>
              <a:t>of the inbreeding depression for </a:t>
            </a:r>
          </a:p>
          <a:p>
            <a:pPr algn="just"/>
            <a:r>
              <a:rPr lang="en-GB">
                <a:solidFill>
                  <a:schemeClr val="tx1"/>
                </a:solidFill>
              </a:rPr>
              <a:t>  viability in </a:t>
            </a:r>
            <a:r>
              <a:rPr lang="en-GB" i="1">
                <a:solidFill>
                  <a:schemeClr val="tx1"/>
                </a:solidFill>
              </a:rPr>
              <a:t>Drosophila</a:t>
            </a:r>
            <a:r>
              <a:rPr lang="en-GB">
                <a:solidFill>
                  <a:schemeClr val="tx1"/>
                </a:solidFill>
              </a:rPr>
              <a:t> is caused by </a:t>
            </a:r>
          </a:p>
          <a:p>
            <a:pPr algn="just"/>
            <a:r>
              <a:rPr lang="en-GB">
                <a:solidFill>
                  <a:schemeClr val="tx1"/>
                </a:solidFill>
              </a:rPr>
              <a:t>  recessive lethals </a:t>
            </a:r>
            <a:r>
              <a:rPr lang="en-GB" baseline="30000">
                <a:solidFill>
                  <a:schemeClr val="tx1"/>
                </a:solidFill>
              </a:rPr>
              <a:t>[25, 26]</a:t>
            </a: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/>
          </a:p>
        </p:txBody>
      </p:sp>
      <p:sp>
        <p:nvSpPr>
          <p:cNvPr id="9" name="Pfeil: Chevron 8">
            <a:extLst>
              <a:ext uri="{FF2B5EF4-FFF2-40B4-BE49-F238E27FC236}">
                <a16:creationId xmlns:a16="http://schemas.microsoft.com/office/drawing/2014/main" id="{CA9BC25E-4FDB-653B-40AB-A01C1F5C9C36}"/>
              </a:ext>
            </a:extLst>
          </p:cNvPr>
          <p:cNvSpPr/>
          <p:nvPr/>
        </p:nvSpPr>
        <p:spPr>
          <a:xfrm>
            <a:off x="6667926" y="3476245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"/>
    </mc:Choice>
    <mc:Fallback xmlns="">
      <p:transition spd="slow" advTm="17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9C3EA-F02A-608F-7604-A32E3352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D91170-0AEE-FF98-A73D-AE8A4B380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4EE810-8F3E-A813-9D5C-1459A7E9B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03EF645-51D4-3A0D-E082-7CC3181ACD5C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DD616E2-406C-126C-63A6-50E52888AD84}"/>
              </a:ext>
            </a:extLst>
          </p:cNvPr>
          <p:cNvSpPr/>
          <p:nvPr/>
        </p:nvSpPr>
        <p:spPr>
          <a:xfrm>
            <a:off x="216305" y="196644"/>
            <a:ext cx="407055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Conservative estimates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2F9868E-454F-FC28-E6D9-EBAFF298F3F2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21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8FCA09E-1B8A-652A-907F-081D6D1E976D}"/>
              </a:ext>
            </a:extLst>
          </p:cNvPr>
          <p:cNvSpPr/>
          <p:nvPr/>
        </p:nvSpPr>
        <p:spPr>
          <a:xfrm>
            <a:off x="216307" y="6353712"/>
            <a:ext cx="11769216" cy="29765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[13]  </a:t>
            </a:r>
            <a:r>
              <a:rPr lang="en-GB" sz="1000">
                <a:solidFill>
                  <a:schemeClr val="tx1"/>
                </a:solidFill>
              </a:rPr>
              <a:t>Wong, H. W. S., &amp; Holman, L. (2023). Pleiotropic fitness effects across sexes and ages in the Drosophila genome and transcriptome. Evolution, 77(12), 2642–2655. https://doi.org/10.1093/evolut/qpad163</a:t>
            </a:r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097AA18-716F-8D88-9875-C878500014CE}"/>
              </a:ext>
            </a:extLst>
          </p:cNvPr>
          <p:cNvSpPr/>
          <p:nvPr/>
        </p:nvSpPr>
        <p:spPr>
          <a:xfrm>
            <a:off x="3971102" y="2229295"/>
            <a:ext cx="4730446" cy="8497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Fitness and genotypes can be only measured in living flies – lethal mutations are not represented </a:t>
            </a:r>
            <a:r>
              <a:rPr lang="de-DE" baseline="30000">
                <a:solidFill>
                  <a:schemeClr val="tx1"/>
                </a:solidFill>
              </a:rPr>
              <a:t>[10]</a:t>
            </a: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A297C7F-2C8B-C5DF-992E-DAAA4F2D5247}"/>
              </a:ext>
            </a:extLst>
          </p:cNvPr>
          <p:cNvSpPr/>
          <p:nvPr/>
        </p:nvSpPr>
        <p:spPr>
          <a:xfrm>
            <a:off x="3971102" y="3364187"/>
            <a:ext cx="4730446" cy="12425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Fitness was measured in flies which survived both early and late life </a:t>
            </a:r>
            <a:r>
              <a:rPr lang="de-DE" baseline="30000">
                <a:solidFill>
                  <a:schemeClr val="tx1"/>
                </a:solidFill>
              </a:rPr>
              <a:t>[13]</a:t>
            </a:r>
            <a:r>
              <a:rPr lang="de-DE">
                <a:solidFill>
                  <a:schemeClr val="tx1"/>
                </a:solidFill>
              </a:rPr>
              <a:t> – the most deleterious mutations are not represented either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E7536FB-DB43-57F6-BD84-8A9E7D978997}"/>
              </a:ext>
            </a:extLst>
          </p:cNvPr>
          <p:cNvSpPr/>
          <p:nvPr/>
        </p:nvSpPr>
        <p:spPr>
          <a:xfrm>
            <a:off x="423805" y="914131"/>
            <a:ext cx="2293152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1) Genetic purging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A9040C2-460C-D3C1-9319-128F8B9566CD}"/>
              </a:ext>
            </a:extLst>
          </p:cNvPr>
          <p:cNvSpPr/>
          <p:nvPr/>
        </p:nvSpPr>
        <p:spPr>
          <a:xfrm>
            <a:off x="423804" y="1585376"/>
            <a:ext cx="2746115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2) Conservative approach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895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"/>
    </mc:Choice>
    <mc:Fallback xmlns="">
      <p:transition spd="slow" advTm="169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10FC5-6783-887E-77B8-847CC03C8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9A7A4A-235E-170A-E695-F618BE0CD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955495-842B-5120-45DF-BC0057A57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BBF0BB1-C227-3CF9-1731-4C340B760A3F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81145D2-306D-F811-095B-95CE6F6871BF}"/>
              </a:ext>
            </a:extLst>
          </p:cNvPr>
          <p:cNvSpPr/>
          <p:nvPr/>
        </p:nvSpPr>
        <p:spPr>
          <a:xfrm>
            <a:off x="216306" y="196644"/>
            <a:ext cx="3736262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Demasculinised X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5B0162A-4B50-6F15-7678-F5A7A8698468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22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04BD499-AAEF-9C59-292C-B31425A7EB6B}"/>
              </a:ext>
            </a:extLst>
          </p:cNvPr>
          <p:cNvSpPr/>
          <p:nvPr/>
        </p:nvSpPr>
        <p:spPr>
          <a:xfrm>
            <a:off x="423805" y="914131"/>
            <a:ext cx="2293152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1) Genetic purging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CFDB91D-0BC6-B637-C99D-1C0F6D3354EB}"/>
              </a:ext>
            </a:extLst>
          </p:cNvPr>
          <p:cNvSpPr/>
          <p:nvPr/>
        </p:nvSpPr>
        <p:spPr>
          <a:xfrm>
            <a:off x="423804" y="1585376"/>
            <a:ext cx="2746115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2) Conservative approach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A072261-EDDE-A1A7-3B76-844801FF4610}"/>
              </a:ext>
            </a:extLst>
          </p:cNvPr>
          <p:cNvSpPr/>
          <p:nvPr/>
        </p:nvSpPr>
        <p:spPr>
          <a:xfrm>
            <a:off x="423804" y="2256621"/>
            <a:ext cx="3701156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3) Demasculinised X chromosome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C2EA386-7147-DED0-8AD8-1C5E2067096F}"/>
              </a:ext>
            </a:extLst>
          </p:cNvPr>
          <p:cNvSpPr/>
          <p:nvPr/>
        </p:nvSpPr>
        <p:spPr>
          <a:xfrm>
            <a:off x="5645689" y="1263610"/>
            <a:ext cx="4043326" cy="784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The Drosphila X chromosome lacks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male-beneficial genes </a:t>
            </a:r>
            <a:r>
              <a:rPr lang="de-DE" baseline="30000">
                <a:solidFill>
                  <a:schemeClr val="tx1"/>
                </a:solidFill>
              </a:rPr>
              <a:t>[23, 24, 25]</a:t>
            </a: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9A908BD-3803-9E8F-AFFB-97D14C4A4EA7}"/>
              </a:ext>
            </a:extLst>
          </p:cNvPr>
          <p:cNvSpPr/>
          <p:nvPr/>
        </p:nvSpPr>
        <p:spPr>
          <a:xfrm>
            <a:off x="5645688" y="2227242"/>
            <a:ext cx="4043327" cy="9122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Effective population size,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dominant alleles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5C5743F-371E-3468-B09A-88E1CE639DA3}"/>
              </a:ext>
            </a:extLst>
          </p:cNvPr>
          <p:cNvSpPr/>
          <p:nvPr/>
        </p:nvSpPr>
        <p:spPr>
          <a:xfrm>
            <a:off x="5645688" y="3139485"/>
            <a:ext cx="4043327" cy="1128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Sex-biased gene expression effects,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e.g., silencing of the X chromosome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during spermatogenesis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4DA896-6840-54A5-B371-5966AAE50230}"/>
              </a:ext>
            </a:extLst>
          </p:cNvPr>
          <p:cNvSpPr/>
          <p:nvPr/>
        </p:nvSpPr>
        <p:spPr>
          <a:xfrm>
            <a:off x="216307" y="5708288"/>
            <a:ext cx="11769216" cy="9406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[27] </a:t>
            </a:r>
            <a:r>
              <a:rPr lang="en-GB" sz="1000">
                <a:solidFill>
                  <a:schemeClr val="tx1"/>
                </a:solidFill>
              </a:rPr>
              <a:t>Gurbich, T. A., &amp; Bachtrog, D. (2008). Gene content evolution on the X chromosome. Current Opinion in Genetics &amp; Development, Genomes and evolution, 18(6), 493–498. https://doi.org/10.1016/j.gde.2008.09.006</a:t>
            </a:r>
          </a:p>
          <a:p>
            <a:r>
              <a:rPr lang="en-GB" sz="1000" b="1">
                <a:solidFill>
                  <a:schemeClr val="tx1"/>
                </a:solidFill>
              </a:rPr>
              <a:t>[28] </a:t>
            </a:r>
            <a:r>
              <a:rPr lang="en-GB" sz="1000">
                <a:solidFill>
                  <a:schemeClr val="tx1"/>
                </a:solidFill>
              </a:rPr>
              <a:t>Parisi, M., Nuttall, R., Naiman, D., Bouffard, G., Malley, J., Andrews, J., Eastman, S., &amp; Oliver, B. (2003). Paucity of Genes on the Drosophila X Chromosome Showing Male-Biased Expression. Science (New York, N.Y.), 299(5607), 697–700. https://doi.org/10.1126/science.1079190 </a:t>
            </a:r>
          </a:p>
          <a:p>
            <a:r>
              <a:rPr lang="en-GB" sz="1000" b="1">
                <a:solidFill>
                  <a:schemeClr val="tx1"/>
                </a:solidFill>
              </a:rPr>
              <a:t>[29] </a:t>
            </a:r>
            <a:r>
              <a:rPr lang="en-GB" sz="1000">
                <a:solidFill>
                  <a:schemeClr val="tx1"/>
                </a:solidFill>
              </a:rPr>
              <a:t>Sturgill, D., Zhang, Y., Parisi, M., &amp; Oliver, B. (2007). Demasculinization of X chromosomes in the Drosophila genus. Nature, 450(7167), 238–241. https://doi.org/10.1038/nature06330</a:t>
            </a: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F9FED4F-398B-E479-B58E-21ECC67198C6}"/>
              </a:ext>
            </a:extLst>
          </p:cNvPr>
          <p:cNvSpPr/>
          <p:nvPr/>
        </p:nvSpPr>
        <p:spPr>
          <a:xfrm>
            <a:off x="3348680" y="4552630"/>
            <a:ext cx="6340335" cy="778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 The </a:t>
            </a:r>
            <a:r>
              <a:rPr lang="de-DE" i="1">
                <a:solidFill>
                  <a:schemeClr val="tx1"/>
                </a:solidFill>
              </a:rPr>
              <a:t>Drosophila</a:t>
            </a:r>
            <a:r>
              <a:rPr lang="de-DE">
                <a:solidFill>
                  <a:schemeClr val="tx1"/>
                </a:solidFill>
              </a:rPr>
              <a:t> X chromosome seems to be an unhospitable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location for male-beneficial loci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Pfeil: Chevron 27">
            <a:extLst>
              <a:ext uri="{FF2B5EF4-FFF2-40B4-BE49-F238E27FC236}">
                <a16:creationId xmlns:a16="http://schemas.microsoft.com/office/drawing/2014/main" id="{32A69D0F-BAA5-CA80-5B86-41F15AC4D40F}"/>
              </a:ext>
            </a:extLst>
          </p:cNvPr>
          <p:cNvSpPr/>
          <p:nvPr/>
        </p:nvSpPr>
        <p:spPr>
          <a:xfrm>
            <a:off x="5512952" y="2897169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30" name="Pfeil: Chevron 29">
            <a:extLst>
              <a:ext uri="{FF2B5EF4-FFF2-40B4-BE49-F238E27FC236}">
                <a16:creationId xmlns:a16="http://schemas.microsoft.com/office/drawing/2014/main" id="{DA17D339-E11F-5436-98FF-967CB3D439B1}"/>
              </a:ext>
            </a:extLst>
          </p:cNvPr>
          <p:cNvSpPr/>
          <p:nvPr/>
        </p:nvSpPr>
        <p:spPr>
          <a:xfrm>
            <a:off x="3215944" y="4714989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Pfeil: Chevron 31">
            <a:extLst>
              <a:ext uri="{FF2B5EF4-FFF2-40B4-BE49-F238E27FC236}">
                <a16:creationId xmlns:a16="http://schemas.microsoft.com/office/drawing/2014/main" id="{C53E939F-8B2D-6375-9FD3-48858D989A90}"/>
              </a:ext>
            </a:extLst>
          </p:cNvPr>
          <p:cNvSpPr/>
          <p:nvPr/>
        </p:nvSpPr>
        <p:spPr>
          <a:xfrm>
            <a:off x="2965713" y="4714989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947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EB6AA-9682-FCDD-449B-636FD79AF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CA8BF2-D493-DA10-603F-A4859D62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3D85D4-8771-281C-84DC-33B33EA8C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68390A6-79AB-1875-A39F-0491B21E702B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EB616EF-584E-4F84-CEAC-52EE2B9446CA}"/>
              </a:ext>
            </a:extLst>
          </p:cNvPr>
          <p:cNvSpPr/>
          <p:nvPr/>
        </p:nvSpPr>
        <p:spPr>
          <a:xfrm>
            <a:off x="216306" y="196644"/>
            <a:ext cx="3736262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Techninal limitations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ED2BF05-56E7-1D00-81FD-73D3D781BCB6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23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4DA4566-C805-FA51-04E3-A5ED9E6D864D}"/>
              </a:ext>
            </a:extLst>
          </p:cNvPr>
          <p:cNvSpPr/>
          <p:nvPr/>
        </p:nvSpPr>
        <p:spPr>
          <a:xfrm>
            <a:off x="423805" y="914131"/>
            <a:ext cx="2293152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1) Genetic purging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D38A726-8A7B-5EC5-5FEE-F137C6C73E23}"/>
              </a:ext>
            </a:extLst>
          </p:cNvPr>
          <p:cNvSpPr/>
          <p:nvPr/>
        </p:nvSpPr>
        <p:spPr>
          <a:xfrm>
            <a:off x="423804" y="1585376"/>
            <a:ext cx="2746115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2) Conservative approach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AA96B31-EE47-0864-422B-D1616C98FC4C}"/>
              </a:ext>
            </a:extLst>
          </p:cNvPr>
          <p:cNvSpPr/>
          <p:nvPr/>
        </p:nvSpPr>
        <p:spPr>
          <a:xfrm>
            <a:off x="423804" y="2256621"/>
            <a:ext cx="3701156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AutoNum type="arabicParenR"/>
            </a:pP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3) Demasculinised X chromosome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5DB0E91-A839-87A0-D757-FE037A757F2A}"/>
              </a:ext>
            </a:extLst>
          </p:cNvPr>
          <p:cNvSpPr/>
          <p:nvPr/>
        </p:nvSpPr>
        <p:spPr>
          <a:xfrm>
            <a:off x="423804" y="2927866"/>
            <a:ext cx="2541909" cy="49449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4) Technical limitations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CABD08B-2C09-43F3-BC5F-CEC06B98A172}"/>
              </a:ext>
            </a:extLst>
          </p:cNvPr>
          <p:cNvSpPr/>
          <p:nvPr/>
        </p:nvSpPr>
        <p:spPr>
          <a:xfrm>
            <a:off x="4977935" y="1408627"/>
            <a:ext cx="4521665" cy="814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Obtaining and filtering genotypes with both filtering criteria (impact and constraint)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73830BA-6BC6-14BF-5DF1-42952EC4B0BD}"/>
              </a:ext>
            </a:extLst>
          </p:cNvPr>
          <p:cNvSpPr/>
          <p:nvPr/>
        </p:nvSpPr>
        <p:spPr>
          <a:xfrm>
            <a:off x="4973738" y="3303370"/>
            <a:ext cx="4521666" cy="10714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Only possible to match genetic load with DGRP line, not with each sex, chromosome type and life stage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47D44E-5D7C-BE64-639F-CAE30C0B9AFD}"/>
              </a:ext>
            </a:extLst>
          </p:cNvPr>
          <p:cNvSpPr/>
          <p:nvPr/>
        </p:nvSpPr>
        <p:spPr>
          <a:xfrm>
            <a:off x="3727442" y="4868541"/>
            <a:ext cx="6509638" cy="8147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 Apart from biological reasons, the results can be  traced back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to technical limitations in data structure</a:t>
            </a: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1B2D019-660F-3B15-551E-A37C37753571}"/>
              </a:ext>
            </a:extLst>
          </p:cNvPr>
          <p:cNvSpPr/>
          <p:nvPr/>
        </p:nvSpPr>
        <p:spPr>
          <a:xfrm>
            <a:off x="4973737" y="2223373"/>
            <a:ext cx="4521666" cy="7044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Calculating genetic loads for the X chromosome and autosomes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endParaRPr lang="de-DE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algn="just"/>
            <a:endParaRPr lang="en-GB">
              <a:solidFill>
                <a:schemeClr val="tx1"/>
              </a:solidFill>
            </a:endParaRPr>
          </a:p>
        </p:txBody>
      </p:sp>
      <p:pic>
        <p:nvPicPr>
          <p:cNvPr id="29" name="Grafik 28" descr="Häkchen mit einfarbiger Füllung">
            <a:extLst>
              <a:ext uri="{FF2B5EF4-FFF2-40B4-BE49-F238E27FC236}">
                <a16:creationId xmlns:a16="http://schemas.microsoft.com/office/drawing/2014/main" id="{1216D421-B33E-D29F-ED5A-1081E5AE27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09596" y="1916140"/>
            <a:ext cx="527484" cy="527484"/>
          </a:xfrm>
          <a:prstGeom prst="rect">
            <a:avLst/>
          </a:prstGeom>
        </p:spPr>
      </p:pic>
      <p:pic>
        <p:nvPicPr>
          <p:cNvPr id="33" name="Grafik 32" descr="Schließen mit einfarbiger Füllung">
            <a:extLst>
              <a:ext uri="{FF2B5EF4-FFF2-40B4-BE49-F238E27FC236}">
                <a16:creationId xmlns:a16="http://schemas.microsoft.com/office/drawing/2014/main" id="{B73041D4-F6BD-B6B6-084E-9D9B3A1A1C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3376" y="3557242"/>
            <a:ext cx="527484" cy="527484"/>
          </a:xfrm>
          <a:prstGeom prst="rect">
            <a:avLst/>
          </a:prstGeom>
        </p:spPr>
      </p:pic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64F9B377-8FB2-3731-4F6D-5966C53A439C}"/>
              </a:ext>
            </a:extLst>
          </p:cNvPr>
          <p:cNvSpPr/>
          <p:nvPr/>
        </p:nvSpPr>
        <p:spPr>
          <a:xfrm>
            <a:off x="3594706" y="5033598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31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"/>
    </mc:Choice>
    <mc:Fallback xmlns="">
      <p:transition spd="slow" advTm="198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3FBF2-03F1-6F03-B2F3-11C5E6D10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26570-3ADC-7C2D-1D65-95B13EB98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8F39A8-8C94-0B13-FD6F-887C8A94C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1A560F-D000-DEF9-8A7D-989F16897AB0}"/>
              </a:ext>
            </a:extLst>
          </p:cNvPr>
          <p:cNvSpPr/>
          <p:nvPr/>
        </p:nvSpPr>
        <p:spPr>
          <a:xfrm>
            <a:off x="216307" y="19679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67FDFE6-47C6-D2E3-0867-E173B1D3A8B2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24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DF25822-8FEE-4F27-F25F-1E348E446F5F}"/>
              </a:ext>
            </a:extLst>
          </p:cNvPr>
          <p:cNvSpPr/>
          <p:nvPr/>
        </p:nvSpPr>
        <p:spPr>
          <a:xfrm>
            <a:off x="216305" y="196644"/>
            <a:ext cx="1219205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Outlook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B6D062D-F77E-FBCF-1721-31B1FAFDBF5E}"/>
              </a:ext>
            </a:extLst>
          </p:cNvPr>
          <p:cNvSpPr/>
          <p:nvPr/>
        </p:nvSpPr>
        <p:spPr>
          <a:xfrm>
            <a:off x="2603091" y="3060290"/>
            <a:ext cx="6985817" cy="7082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We did not create the expected results, possibly due to biological and technical limitations, however: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</a:t>
            </a: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37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"/>
    </mc:Choice>
    <mc:Fallback xmlns="">
      <p:transition spd="slow" advTm="173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4E5BD-C33A-6685-43D1-DB6A2FAC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B7FDAD-9AD5-ECE1-E265-EE885F943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2B0771-9F20-E931-30D6-BED12B9E0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21DEA48-C6F3-74CF-4AC7-DEBE48116D4C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554A422-DB15-DD2D-9C00-6407291F830E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25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5E486F0-50C3-80B9-DBAB-3D067AC4DE5B}"/>
              </a:ext>
            </a:extLst>
          </p:cNvPr>
          <p:cNvSpPr/>
          <p:nvPr/>
        </p:nvSpPr>
        <p:spPr>
          <a:xfrm>
            <a:off x="216307" y="5392994"/>
            <a:ext cx="11769216" cy="125592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[13] </a:t>
            </a:r>
            <a:r>
              <a:rPr lang="en-GB" sz="1000">
                <a:solidFill>
                  <a:schemeClr val="tx1"/>
                </a:solidFill>
              </a:rPr>
              <a:t>Wong, H. W. S., &amp; Holman, L. (2023). Pleiotropic fitness effects across sexes and ages in the Drosophila genome and transcriptome. Evolution, 77(12), 2642–2655. https://doi.org/10.1093/evolut/qpad163</a:t>
            </a:r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[14]</a:t>
            </a:r>
            <a:r>
              <a:rPr lang="en-GB" sz="1000">
                <a:solidFill>
                  <a:schemeClr val="tx1"/>
                </a:solidFill>
              </a:rPr>
              <a:t> Chen, R. S., Soulsbury, C. D., Hench, K., van Oers, K., &amp; Hoffman, J. I. (2025). Predicted deleterious mutations reveal the genetic architecture of male reproductive success in a lekking bird. Nature Ecology &amp; Evolution, 9(10), 1924–1937. https://doi.org/10.1038/s41559-025-02802-8 </a:t>
            </a:r>
          </a:p>
          <a:p>
            <a:r>
              <a:rPr lang="en-GB" sz="1000" b="1">
                <a:solidFill>
                  <a:schemeClr val="tx1"/>
                </a:solidFill>
              </a:rPr>
              <a:t>[15] </a:t>
            </a:r>
            <a:r>
              <a:rPr lang="en-GB" sz="1000">
                <a:solidFill>
                  <a:schemeClr val="tx1"/>
                </a:solidFill>
              </a:rPr>
              <a:t>Bertorelle, G., Raffini, F., Bosse, M., Bortoluzzi, C., Iannucci, A., Trucchi, E., Morales, H. E., &amp; van Oosterhout, C. (2022). Genetic load: Genomic estimates and applications in non-model animals. Nature Reviews Genetics, 23(8), 492–503. https://doi.org/10.1038/s41576-022-00448-x</a:t>
            </a:r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[17] </a:t>
            </a:r>
            <a:r>
              <a:rPr lang="en-GB" sz="1000">
                <a:solidFill>
                  <a:schemeClr val="tx1"/>
                </a:solidFill>
              </a:rPr>
              <a:t>Smeds, L., &amp; Ellegren, H. (2023). From high masked to high realized genetic load in inbred Scandinavian wolves. Molecular Ecology, 32(7), 1567–1580. https://doi.org/10.1111/mec.16802</a:t>
            </a:r>
          </a:p>
          <a:p>
            <a:r>
              <a:rPr lang="en-GB" sz="1000" b="1">
                <a:solidFill>
                  <a:schemeClr val="tx1"/>
                </a:solidFill>
              </a:rPr>
              <a:t>[30] </a:t>
            </a:r>
            <a:r>
              <a:rPr lang="en-GB" sz="1000">
                <a:solidFill>
                  <a:schemeClr val="tx1"/>
                </a:solidFill>
              </a:rPr>
              <a:t>Singh, A., Hasan, A., &amp; Agrawal, A. F. (2023). An investigation of the sex-specific genetic architecture of fitness in Drosophila melanogaster. Evolution, 77(9), 2015–2028. https://doi.org/10.1093/evolut/qpad107</a:t>
            </a:r>
          </a:p>
          <a:p>
            <a:br>
              <a:rPr lang="en-GB" sz="1000"/>
            </a:br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0629AD1-0AD1-9100-8F30-1A6582735DE3}"/>
              </a:ext>
            </a:extLst>
          </p:cNvPr>
          <p:cNvSpPr/>
          <p:nvPr/>
        </p:nvSpPr>
        <p:spPr>
          <a:xfrm>
            <a:off x="216305" y="196644"/>
            <a:ext cx="1219205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Outlook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B91CBCD-DFE1-2EAD-9439-4E2AFAF892E6}"/>
              </a:ext>
            </a:extLst>
          </p:cNvPr>
          <p:cNvSpPr/>
          <p:nvPr/>
        </p:nvSpPr>
        <p:spPr>
          <a:xfrm>
            <a:off x="4334305" y="1013383"/>
            <a:ext cx="3523389" cy="54085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Provide basis for future research: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D830D49-5EA9-FEEC-BA11-4EA7E13C49A7}"/>
              </a:ext>
            </a:extLst>
          </p:cNvPr>
          <p:cNvSpPr/>
          <p:nvPr/>
        </p:nvSpPr>
        <p:spPr>
          <a:xfrm>
            <a:off x="3410706" y="1812310"/>
            <a:ext cx="5370588" cy="7186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Freely accessible and reproducible methods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2615796-E1D2-894B-B237-91D5E353368D}"/>
              </a:ext>
            </a:extLst>
          </p:cNvPr>
          <p:cNvSpPr/>
          <p:nvPr/>
        </p:nvSpPr>
        <p:spPr>
          <a:xfrm>
            <a:off x="3410706" y="2698381"/>
            <a:ext cx="5370588" cy="6967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Encouragement to re-visit this question in the future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20252EE-071C-42FD-05DA-7B53184884E9}"/>
              </a:ext>
            </a:extLst>
          </p:cNvPr>
          <p:cNvSpPr/>
          <p:nvPr/>
        </p:nvSpPr>
        <p:spPr>
          <a:xfrm>
            <a:off x="3410705" y="3560929"/>
            <a:ext cx="5370587" cy="1199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de-DE">
                <a:solidFill>
                  <a:schemeClr val="tx1"/>
                </a:solidFill>
              </a:rPr>
              <a:t>Applicable to lab populations but also necessary to assess the fitness of wild populations </a:t>
            </a:r>
            <a:r>
              <a:rPr lang="de-DE" baseline="30000">
                <a:solidFill>
                  <a:schemeClr val="tx1"/>
                </a:solidFill>
              </a:rPr>
              <a:t>[13, 14, 15, 17, 30]</a:t>
            </a:r>
            <a:endParaRPr lang="de-DE">
              <a:solidFill>
                <a:schemeClr val="tx1"/>
              </a:solidFill>
            </a:endParaRPr>
          </a:p>
          <a:p>
            <a:pPr algn="just"/>
            <a:r>
              <a:rPr lang="de-DE">
                <a:solidFill>
                  <a:schemeClr val="tx1"/>
                </a:solidFill>
              </a:rPr>
              <a:t>  </a:t>
            </a: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22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"/>
    </mc:Choice>
    <mc:Fallback xmlns="">
      <p:transition spd="slow" advTm="19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5BD45-14E5-AA43-3E37-A53A254D6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E456DE-55C7-7CE9-CEFA-8889D7C7C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532CF-07D5-054C-205E-A496EF69C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50954F7-D609-509C-9B2C-4ECBAFB2A43E}"/>
              </a:ext>
            </a:extLst>
          </p:cNvPr>
          <p:cNvSpPr/>
          <p:nvPr/>
        </p:nvSpPr>
        <p:spPr>
          <a:xfrm>
            <a:off x="216307" y="19679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6CC2F62-6B25-E6FD-D319-5D30FB80DC56}"/>
              </a:ext>
            </a:extLst>
          </p:cNvPr>
          <p:cNvSpPr/>
          <p:nvPr/>
        </p:nvSpPr>
        <p:spPr>
          <a:xfrm>
            <a:off x="4807972" y="3112086"/>
            <a:ext cx="2576056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Some closing remarks</a:t>
            </a:r>
            <a:endParaRPr lang="en-GB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27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"/>
    </mc:Choice>
    <mc:Fallback xmlns="">
      <p:transition spd="slow" advTm="13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3509F2-8D00-2728-E2EF-739838011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4094DF-6B1B-5659-F1E8-1EC37E624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0434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5BFDA-EF73-D5FB-C541-B74A027D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A29C90-4729-CF50-F2C8-6066C209B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C42FD7-9979-6801-1DC3-22F24502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53C95DF-0EFF-401F-F03E-B6A2729DDE89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E1B7364-5EA1-BCE4-AA71-BAF7DD958E2C}"/>
              </a:ext>
            </a:extLst>
          </p:cNvPr>
          <p:cNvSpPr/>
          <p:nvPr/>
        </p:nvSpPr>
        <p:spPr>
          <a:xfrm>
            <a:off x="216307" y="196644"/>
            <a:ext cx="5432653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Charlesworth et al, 1987 –  Beneficial mutations </a:t>
            </a:r>
            <a:r>
              <a:rPr lang="de-DE" b="1" baseline="30000">
                <a:solidFill>
                  <a:schemeClr val="tx1"/>
                </a:solidFill>
              </a:rPr>
              <a:t>[4]</a:t>
            </a:r>
            <a:r>
              <a:rPr lang="de-DE" b="1">
                <a:solidFill>
                  <a:schemeClr val="tx1"/>
                </a:solidFill>
              </a:rPr>
              <a:t>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58B6566-898D-0455-8154-3D0AB69E14EB}"/>
              </a:ext>
            </a:extLst>
          </p:cNvPr>
          <p:cNvSpPr/>
          <p:nvPr/>
        </p:nvSpPr>
        <p:spPr>
          <a:xfrm>
            <a:off x="216307" y="6174506"/>
            <a:ext cx="11769216" cy="47686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[4] </a:t>
            </a:r>
            <a:r>
              <a:rPr lang="en-GB" sz="1000">
                <a:solidFill>
                  <a:schemeClr val="tx1"/>
                </a:solidFill>
              </a:rPr>
              <a:t>Charlesworth, B., Coyne, J. A., &amp; Barton, N. H. (1987). The Relative Rates of Evolution of Sex Chromosomes and Autosomes. The American Naturalist, 130(1), 113–146.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FDBBC49-48D3-7390-F753-B16E52D73424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3</a:t>
            </a:r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D4E90D16-E4CC-F033-6D4B-8EE249D2B64C}"/>
              </a:ext>
            </a:extLst>
          </p:cNvPr>
          <p:cNvGrpSpPr/>
          <p:nvPr/>
        </p:nvGrpSpPr>
        <p:grpSpPr>
          <a:xfrm>
            <a:off x="3987635" y="1223969"/>
            <a:ext cx="4216729" cy="693317"/>
            <a:chOff x="1081548" y="1465006"/>
            <a:chExt cx="3647768" cy="5997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8024D419-91EF-B920-3DA6-443A585B4307}"/>
                </a:ext>
              </a:extLst>
            </p:cNvPr>
            <p:cNvSpPr/>
            <p:nvPr/>
          </p:nvSpPr>
          <p:spPr>
            <a:xfrm>
              <a:off x="1081548" y="1465006"/>
              <a:ext cx="3647768" cy="5997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899D445D-9117-2CEC-4D0E-232922686931}"/>
                </a:ext>
              </a:extLst>
            </p:cNvPr>
            <p:cNvGrpSpPr/>
            <p:nvPr/>
          </p:nvGrpSpPr>
          <p:grpSpPr>
            <a:xfrm>
              <a:off x="1192162" y="1584008"/>
              <a:ext cx="3447417" cy="358171"/>
              <a:chOff x="838200" y="2173994"/>
              <a:chExt cx="3447417" cy="358171"/>
            </a:xfrm>
          </p:grpSpPr>
          <p:pic>
            <p:nvPicPr>
              <p:cNvPr id="10" name="Grafik 9">
                <a:extLst>
                  <a:ext uri="{FF2B5EF4-FFF2-40B4-BE49-F238E27FC236}">
                    <a16:creationId xmlns:a16="http://schemas.microsoft.com/office/drawing/2014/main" id="{E79C9B38-DAFD-BF52-E5EC-FA4B0AFA61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8200" y="2173994"/>
                <a:ext cx="2034716" cy="358171"/>
              </a:xfrm>
              <a:prstGeom prst="rect">
                <a:avLst/>
              </a:prstGeom>
            </p:spPr>
          </p:pic>
          <p:pic>
            <p:nvPicPr>
              <p:cNvPr id="13" name="Grafik 12">
                <a:extLst>
                  <a:ext uri="{FF2B5EF4-FFF2-40B4-BE49-F238E27FC236}">
                    <a16:creationId xmlns:a16="http://schemas.microsoft.com/office/drawing/2014/main" id="{68A09196-8F6C-DFA7-1964-C27BB10B4B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4381" y="2212098"/>
                <a:ext cx="1341236" cy="281964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CA3874B7-BA05-FF05-326C-87637D49B232}"/>
                  </a:ext>
                </a:extLst>
              </p:cNvPr>
              <p:cNvSpPr/>
              <p:nvPr/>
            </p:nvSpPr>
            <p:spPr>
              <a:xfrm>
                <a:off x="3987634" y="2175279"/>
                <a:ext cx="4216729" cy="8358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de-DE">
                    <a:solidFill>
                      <a:schemeClr val="tx1"/>
                    </a:solidFill>
                  </a:rPr>
                  <a:t>Example, dominant case: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de-DE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≈(4∗</m:t>
                    </m:r>
                    <m:r>
                      <a:rPr lang="de-DE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de-DE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de-D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)/(2∗</m:t>
                    </m:r>
                    <m:r>
                      <a:rPr lang="de-DE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de-DE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de-D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+1)≈</m:t>
                    </m:r>
                    <m:r>
                      <a:rPr lang="de-DE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1.16</m:t>
                    </m:r>
                  </m:oMath>
                </a14:m>
                <a:r>
                  <a:rPr lang="de-DE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CA3874B7-BA05-FF05-326C-87637D49B2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634" y="2175279"/>
                <a:ext cx="4216729" cy="835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0EE7CFED-853A-C6AB-FE8C-46DECBC6AC6B}"/>
                  </a:ext>
                </a:extLst>
              </p:cNvPr>
              <p:cNvSpPr/>
              <p:nvPr/>
            </p:nvSpPr>
            <p:spPr>
              <a:xfrm>
                <a:off x="3987636" y="3274225"/>
                <a:ext cx="4216728" cy="8358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de-DE">
                    <a:solidFill>
                      <a:schemeClr val="tx1"/>
                    </a:solidFill>
                  </a:rPr>
                  <a:t>Example, recessive case:</a:t>
                </a:r>
              </a:p>
              <a:p>
                <a:pPr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≈(4∗</m:t>
                      </m:r>
                      <m:r>
                        <a:rPr lang="de-DE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)/(2∗</m:t>
                      </m:r>
                      <m:r>
                        <a:rPr lang="de-DE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+1)≈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0.57</m:t>
                      </m:r>
                    </m:oMath>
                  </m:oMathPara>
                </a14:m>
                <a:endParaRPr lang="en-GB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0EE7CFED-853A-C6AB-FE8C-46DECBC6AC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636" y="3274225"/>
                <a:ext cx="4216728" cy="8358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hteck 5">
            <a:extLst>
              <a:ext uri="{FF2B5EF4-FFF2-40B4-BE49-F238E27FC236}">
                <a16:creationId xmlns:a16="http://schemas.microsoft.com/office/drawing/2014/main" id="{19BCCB04-B7AC-0176-4EA1-9998696AE9B5}"/>
              </a:ext>
            </a:extLst>
          </p:cNvPr>
          <p:cNvSpPr/>
          <p:nvPr/>
        </p:nvSpPr>
        <p:spPr>
          <a:xfrm>
            <a:off x="2885767" y="4368091"/>
            <a:ext cx="6420465" cy="938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  In both sexes, recessiveness supports the fixation of new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 beneficial alleles on the X chromosome (faster-X theory)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Pfeil: Chevron 10">
            <a:extLst>
              <a:ext uri="{FF2B5EF4-FFF2-40B4-BE49-F238E27FC236}">
                <a16:creationId xmlns:a16="http://schemas.microsoft.com/office/drawing/2014/main" id="{36CB23A6-CB71-9F47-707F-F22982463FA1}"/>
              </a:ext>
            </a:extLst>
          </p:cNvPr>
          <p:cNvSpPr/>
          <p:nvPr/>
        </p:nvSpPr>
        <p:spPr>
          <a:xfrm>
            <a:off x="2753031" y="4591054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387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DCD81-F54B-F1F1-CC0C-BD1227947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396DFF-2467-F3AF-6C7A-6B58C6230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2E4170-72C3-B4FB-C32F-54B4023C4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701E504-B463-6E81-A164-EDE196BE2E60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0956C06-FACE-C13E-EAB0-BBF3113EB92C}"/>
              </a:ext>
            </a:extLst>
          </p:cNvPr>
          <p:cNvSpPr/>
          <p:nvPr/>
        </p:nvSpPr>
        <p:spPr>
          <a:xfrm>
            <a:off x="216307" y="196644"/>
            <a:ext cx="5552103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Charlesworth et al, 1987 – Deleterious mutations </a:t>
            </a:r>
            <a:r>
              <a:rPr lang="de-DE" b="1" baseline="30000">
                <a:solidFill>
                  <a:schemeClr val="tx1"/>
                </a:solidFill>
              </a:rPr>
              <a:t>[4]</a:t>
            </a:r>
            <a:r>
              <a:rPr lang="de-DE" b="1">
                <a:solidFill>
                  <a:schemeClr val="tx1"/>
                </a:solidFill>
              </a:rPr>
              <a:t>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7D5D509-C680-BE63-3CA7-08B1EB9948D0}"/>
              </a:ext>
            </a:extLst>
          </p:cNvPr>
          <p:cNvSpPr/>
          <p:nvPr/>
        </p:nvSpPr>
        <p:spPr>
          <a:xfrm>
            <a:off x="216307" y="6174506"/>
            <a:ext cx="11769216" cy="47686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[4] </a:t>
            </a:r>
            <a:r>
              <a:rPr lang="en-GB" sz="1000">
                <a:solidFill>
                  <a:schemeClr val="tx1"/>
                </a:solidFill>
              </a:rPr>
              <a:t>Charlesworth, B., Coyne, J. A., &amp; Barton, N. H. (1987). The Relative Rates of Evolution of Sex Chromosomes and Autosomes. The American Naturalist, 130(1), 113–146.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C9BF220-A205-31D5-4E49-B6F7EF64C7C0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4</a:t>
            </a:r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AC049BFD-C8A4-8FF1-F587-EAFF75EADD4A}"/>
                  </a:ext>
                </a:extLst>
              </p:cNvPr>
              <p:cNvSpPr/>
              <p:nvPr/>
            </p:nvSpPr>
            <p:spPr>
              <a:xfrm>
                <a:off x="3515032" y="2192675"/>
                <a:ext cx="5161936" cy="8358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de-DE">
                    <a:solidFill>
                      <a:schemeClr val="tx1"/>
                    </a:solidFill>
                  </a:rPr>
                  <a:t>Example, dominant case:</a:t>
                </a:r>
              </a:p>
              <a:p>
                <a:pPr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1/3∗</m:t>
                      </m:r>
                      <m:d>
                        <m:dPr>
                          <m:ctrlPr>
                            <a:rPr lang="de-DE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−0.5</m:t>
                          </m:r>
                        </m:e>
                      </m:d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−0.5)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0.96</m:t>
                      </m:r>
                    </m:oMath>
                  </m:oMathPara>
                </a14:m>
                <a:endParaRPr lang="de-DE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AC049BFD-C8A4-8FF1-F587-EAFF75EADD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032" y="2192675"/>
                <a:ext cx="5161936" cy="8358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D8597E7F-42B5-A34B-C724-361DEF095F93}"/>
              </a:ext>
            </a:extLst>
          </p:cNvPr>
          <p:cNvGrpSpPr/>
          <p:nvPr/>
        </p:nvGrpSpPr>
        <p:grpSpPr>
          <a:xfrm>
            <a:off x="6366089" y="1296796"/>
            <a:ext cx="4896822" cy="616564"/>
            <a:chOff x="948812" y="1512206"/>
            <a:chExt cx="4930878" cy="6208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47DC34F3-CA73-BCB3-0236-8D6931FD6AC4}"/>
                </a:ext>
              </a:extLst>
            </p:cNvPr>
            <p:cNvSpPr/>
            <p:nvPr/>
          </p:nvSpPr>
          <p:spPr>
            <a:xfrm>
              <a:off x="948812" y="1512206"/>
              <a:ext cx="4930878" cy="62085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AC457481-EDE2-2C2D-EB76-79C8B0143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1547" y="1609931"/>
              <a:ext cx="3429297" cy="419136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0A0481BA-5AF1-12E8-90D8-CCC7C0E2D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33628" y="1673487"/>
              <a:ext cx="1234547" cy="35055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E0CB7F23-5737-5AFC-9083-6FB88F58928A}"/>
                  </a:ext>
                </a:extLst>
              </p:cNvPr>
              <p:cNvSpPr/>
              <p:nvPr/>
            </p:nvSpPr>
            <p:spPr>
              <a:xfrm>
                <a:off x="3515032" y="3313682"/>
                <a:ext cx="5161936" cy="8358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de-DE">
                    <a:solidFill>
                      <a:schemeClr val="tx1"/>
                    </a:solidFill>
                  </a:rPr>
                  <a:t>Example, recessive case:</a:t>
                </a:r>
              </a:p>
              <a:p>
                <a:pPr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1/3∗</m:t>
                      </m:r>
                      <m:d>
                        <m:dPr>
                          <m:ctrlPr>
                            <a:rPr lang="de-D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−0.5</m:t>
                          </m:r>
                        </m:e>
                      </m:d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)≈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1.05</m:t>
                      </m:r>
                    </m:oMath>
                  </m:oMathPara>
                </a14:m>
                <a:endParaRPr lang="de-DE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E0CB7F23-5737-5AFC-9083-6FB88F5892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032" y="3313682"/>
                <a:ext cx="5161936" cy="8358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5865806-7900-D24E-A2C4-F324494A70E8}"/>
              </a:ext>
            </a:extLst>
          </p:cNvPr>
          <p:cNvGrpSpPr/>
          <p:nvPr/>
        </p:nvGrpSpPr>
        <p:grpSpPr>
          <a:xfrm>
            <a:off x="1751730" y="1279877"/>
            <a:ext cx="4076551" cy="627664"/>
            <a:chOff x="5080000" y="549886"/>
            <a:chExt cx="3042313" cy="4684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DF85FDF4-270A-8FA8-9DE6-2A13FAF471E3}"/>
                </a:ext>
              </a:extLst>
            </p:cNvPr>
            <p:cNvSpPr/>
            <p:nvPr/>
          </p:nvSpPr>
          <p:spPr>
            <a:xfrm>
              <a:off x="5080000" y="549886"/>
              <a:ext cx="3042313" cy="46842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1E2B652B-A3E6-2A4F-C436-13605DCCD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61247" y="630777"/>
              <a:ext cx="2301439" cy="312447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43448419-622B-A967-7D74-16E10281D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62686" y="645502"/>
              <a:ext cx="586791" cy="266723"/>
            </a:xfrm>
            <a:prstGeom prst="rect">
              <a:avLst/>
            </a:prstGeom>
          </p:spPr>
        </p:pic>
      </p:grpSp>
      <p:sp>
        <p:nvSpPr>
          <p:cNvPr id="16" name="Rechteck 15">
            <a:extLst>
              <a:ext uri="{FF2B5EF4-FFF2-40B4-BE49-F238E27FC236}">
                <a16:creationId xmlns:a16="http://schemas.microsoft.com/office/drawing/2014/main" id="{C84A3033-B447-C270-C510-A8B7710EC82C}"/>
              </a:ext>
            </a:extLst>
          </p:cNvPr>
          <p:cNvSpPr/>
          <p:nvPr/>
        </p:nvSpPr>
        <p:spPr>
          <a:xfrm>
            <a:off x="2462380" y="4422805"/>
            <a:ext cx="7267240" cy="9701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  When selection acts on both sexes or males only, recessiveness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 impedes the fixation of new deleterious alleles on the X chromosome</a:t>
            </a:r>
          </a:p>
        </p:txBody>
      </p:sp>
      <p:sp>
        <p:nvSpPr>
          <p:cNvPr id="32" name="Pfeil: Chevron 31">
            <a:extLst>
              <a:ext uri="{FF2B5EF4-FFF2-40B4-BE49-F238E27FC236}">
                <a16:creationId xmlns:a16="http://schemas.microsoft.com/office/drawing/2014/main" id="{F5DF3F9F-8A36-26D7-5A5E-595E514B31EC}"/>
              </a:ext>
            </a:extLst>
          </p:cNvPr>
          <p:cNvSpPr/>
          <p:nvPr/>
        </p:nvSpPr>
        <p:spPr>
          <a:xfrm>
            <a:off x="2329644" y="4665583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2543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00795-9F25-73D1-6CD2-601C65285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2781B5-8579-6850-29D3-D3A37D3B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9BAB39-F987-9AB1-AE49-44BF4ECB7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66E4041-4E90-F0A7-851A-968F6B95C752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66AB8F2-8BD9-1EE4-3F62-BA987E44AFB5}"/>
              </a:ext>
            </a:extLst>
          </p:cNvPr>
          <p:cNvSpPr/>
          <p:nvPr/>
        </p:nvSpPr>
        <p:spPr>
          <a:xfrm>
            <a:off x="216307" y="196644"/>
            <a:ext cx="4513009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Rice, 1984 – Antagonistic mutations </a:t>
            </a:r>
            <a:r>
              <a:rPr lang="de-DE" b="1" baseline="30000">
                <a:solidFill>
                  <a:schemeClr val="tx1"/>
                </a:solidFill>
              </a:rPr>
              <a:t>[5]</a:t>
            </a:r>
            <a:r>
              <a:rPr lang="de-DE" b="1">
                <a:solidFill>
                  <a:schemeClr val="tx1"/>
                </a:solidFill>
              </a:rPr>
              <a:t>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2588851-0314-1B5F-92F7-21B20131B70D}"/>
              </a:ext>
            </a:extLst>
          </p:cNvPr>
          <p:cNvSpPr/>
          <p:nvPr/>
        </p:nvSpPr>
        <p:spPr>
          <a:xfrm>
            <a:off x="216307" y="6174506"/>
            <a:ext cx="11769216" cy="47686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[5] </a:t>
            </a:r>
            <a:r>
              <a:rPr lang="en-GB" sz="1000">
                <a:solidFill>
                  <a:schemeClr val="tx1"/>
                </a:solidFill>
              </a:rPr>
              <a:t>Rice, W. R. (1984). Sex Chromosomes and the Evolution of Sexual Dimorphism. Evolution, 38(4), 735–742. https://doi.org/10.1111/j.1558-5646.1984.tb00346.x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  <a:p>
            <a:endParaRPr lang="en-GB" sz="1000">
              <a:solidFill>
                <a:schemeClr val="tx1"/>
              </a:solidFill>
            </a:endParaRP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3F35929-D3F7-5CFD-0A56-13200682518C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5</a:t>
            </a:r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A0323F59-8664-3FD7-DD63-0C955D330DE6}"/>
                  </a:ext>
                </a:extLst>
              </p:cNvPr>
              <p:cNvSpPr/>
              <p:nvPr/>
            </p:nvSpPr>
            <p:spPr>
              <a:xfrm>
                <a:off x="3515032" y="2267609"/>
                <a:ext cx="5161936" cy="8358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de-DE">
                    <a:solidFill>
                      <a:schemeClr val="tx1"/>
                    </a:solidFill>
                  </a:rPr>
                  <a:t>Example, dominant case:</a:t>
                </a: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(2∗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∗0.4)/(1−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∗0.4)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de-DE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0.77</m:t>
                      </m:r>
                    </m:oMath>
                  </m:oMathPara>
                </a14:m>
                <a:endParaRPr lang="de-DE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A0323F59-8664-3FD7-DD63-0C955D330D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032" y="2267609"/>
                <a:ext cx="5161936" cy="8358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fik 15">
            <a:extLst>
              <a:ext uri="{FF2B5EF4-FFF2-40B4-BE49-F238E27FC236}">
                <a16:creationId xmlns:a16="http://schemas.microsoft.com/office/drawing/2014/main" id="{0AC292F5-BA16-9E6D-BBB0-4DCFD366E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731" y="1063245"/>
            <a:ext cx="3444538" cy="929721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BAF330F7-C715-E9D2-766B-AFDFC2248D5E}"/>
                  </a:ext>
                </a:extLst>
              </p:cNvPr>
              <p:cNvSpPr/>
              <p:nvPr/>
            </p:nvSpPr>
            <p:spPr>
              <a:xfrm>
                <a:off x="3515032" y="3378125"/>
                <a:ext cx="5161936" cy="8358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de-DE">
                    <a:solidFill>
                      <a:schemeClr val="tx1"/>
                    </a:solidFill>
                  </a:rPr>
                  <a:t>Example, recessive case:</a:t>
                </a: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&gt;(2∗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∗0.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)/(1−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∗0.</m:t>
                      </m:r>
                      <m:r>
                        <a:rPr lang="de-DE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)⇔</m:t>
                      </m:r>
                      <m:r>
                        <m:rPr>
                          <m:sty m:val="p"/>
                        </m:rP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de-D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&gt;0.22</m:t>
                      </m:r>
                    </m:oMath>
                  </m:oMathPara>
                </a14:m>
                <a:endParaRPr lang="de-DE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BAF330F7-C715-E9D2-766B-AFDFC2248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032" y="3378125"/>
                <a:ext cx="5161936" cy="835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27CAFC5B-991C-0994-B25F-663E3E4DF170}"/>
              </a:ext>
            </a:extLst>
          </p:cNvPr>
          <p:cNvSpPr/>
          <p:nvPr/>
        </p:nvSpPr>
        <p:spPr>
          <a:xfrm>
            <a:off x="2323075" y="4488641"/>
            <a:ext cx="7921933" cy="938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>
                <a:solidFill>
                  <a:schemeClr val="tx1"/>
                </a:solidFill>
              </a:rPr>
              <a:t>    As long as an invading X-linked allele is recessive enough, the fitness </a:t>
            </a:r>
          </a:p>
          <a:p>
            <a:pPr algn="just"/>
            <a:r>
              <a:rPr lang="de-DE">
                <a:solidFill>
                  <a:schemeClr val="tx1"/>
                </a:solidFill>
              </a:rPr>
              <a:t>    increase in males outweighs the fitness decrease in females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Pfeil: Chevron 31">
            <a:extLst>
              <a:ext uri="{FF2B5EF4-FFF2-40B4-BE49-F238E27FC236}">
                <a16:creationId xmlns:a16="http://schemas.microsoft.com/office/drawing/2014/main" id="{15684F33-72AE-33EA-9ABF-A7D8AF8132EC}"/>
              </a:ext>
            </a:extLst>
          </p:cNvPr>
          <p:cNvSpPr/>
          <p:nvPr/>
        </p:nvSpPr>
        <p:spPr>
          <a:xfrm>
            <a:off x="2207340" y="4721079"/>
            <a:ext cx="265471" cy="484632"/>
          </a:xfrm>
          <a:prstGeom prst="chevr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3311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90AE-117A-656D-E317-88AED141F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ECCCFA-0086-8AF1-D3C7-19E2AB22D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121888-D3F6-6499-D459-68F209B28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16B06C3-4D0F-44D6-0062-B8D4201471E4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443DEFD-2796-ECE3-6104-E27066DBFDFE}"/>
              </a:ext>
            </a:extLst>
          </p:cNvPr>
          <p:cNvSpPr/>
          <p:nvPr/>
        </p:nvSpPr>
        <p:spPr>
          <a:xfrm>
            <a:off x="216306" y="196644"/>
            <a:ext cx="3820814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Model visualisation</a:t>
            </a:r>
            <a:endParaRPr lang="en-GB" b="1" baseline="30000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C3CB31B-FC52-3F0A-EF60-4756B82F7CF4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13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684A170-A322-748B-7194-B175924D2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32" y="1013383"/>
            <a:ext cx="8172935" cy="506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1154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432F8-4EE1-7138-A2A1-246D1D3AF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BCF93-6FA5-7D8E-A335-9474D960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9696F8-069F-80DB-747B-417014F08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8087AAE-6F47-1FFD-C939-76B3FA334D3E}"/>
              </a:ext>
            </a:extLst>
          </p:cNvPr>
          <p:cNvSpPr/>
          <p:nvPr/>
        </p:nvSpPr>
        <p:spPr>
          <a:xfrm>
            <a:off x="216307" y="198927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5153553-2224-10D7-420F-D94D0DD16B25}"/>
              </a:ext>
            </a:extLst>
          </p:cNvPr>
          <p:cNvSpPr/>
          <p:nvPr/>
        </p:nvSpPr>
        <p:spPr>
          <a:xfrm>
            <a:off x="216306" y="196644"/>
            <a:ext cx="5879694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Putatively deleterious variants with high impact </a:t>
            </a:r>
            <a:endParaRPr lang="en-GB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14CC8B7-9EAC-C34A-489F-AEC19A6BECFB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12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E66B6D5-9469-0880-00E8-262EC134C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661" y="1094338"/>
            <a:ext cx="8956939" cy="5117001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41979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751C55-2CD5-6C1D-E109-117663E6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E01CE35E-ECFB-32B4-10DF-C6FA435EC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721" y="773574"/>
            <a:ext cx="10008776" cy="571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405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0D970-F93D-47D6-0959-0CF7F1C6B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A0B76B-DF12-559D-ECF1-706C1B72C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1435D4-612E-01B1-423E-D0A58DD88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09295B4-3BCC-0156-F677-24ACBB7E361E}"/>
              </a:ext>
            </a:extLst>
          </p:cNvPr>
          <p:cNvSpPr/>
          <p:nvPr/>
        </p:nvSpPr>
        <p:spPr>
          <a:xfrm>
            <a:off x="216307" y="193368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16F1E9A-20FE-B6B4-147B-F009230DE1C4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18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2A1A011-6001-0739-5230-A2844C950D03}"/>
              </a:ext>
            </a:extLst>
          </p:cNvPr>
          <p:cNvSpPr/>
          <p:nvPr/>
        </p:nvSpPr>
        <p:spPr>
          <a:xfrm>
            <a:off x="216306" y="196644"/>
            <a:ext cx="3736262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Discussion – Genetic purging</a:t>
            </a:r>
            <a:endParaRPr lang="en-GB" b="1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CEF843D-7EAA-2B7D-6B87-A587522C0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57" y="1323744"/>
            <a:ext cx="7370195" cy="42105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8578AA0E-588A-DCB3-869D-D37B36B98254}"/>
              </a:ext>
            </a:extLst>
          </p:cNvPr>
          <p:cNvSpPr/>
          <p:nvPr/>
        </p:nvSpPr>
        <p:spPr>
          <a:xfrm>
            <a:off x="8268929" y="2425443"/>
            <a:ext cx="3291348" cy="2007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Across &gt; four million sites roughly 5.000 heterozygous sites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Only 11 heterozygous sites located on the X chromosome</a:t>
            </a:r>
          </a:p>
          <a:p>
            <a:pPr algn="just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701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28996-A377-87E1-3A55-E4D634980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629E6C-A5DA-1FE4-3470-EA3B5019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60458" cy="814746"/>
          </a:xfrm>
        </p:spPr>
        <p:txBody>
          <a:bodyPr>
            <a:normAutofit/>
          </a:bodyPr>
          <a:lstStyle/>
          <a:p>
            <a:pPr algn="just"/>
            <a:r>
              <a:rPr lang="de-DE" sz="3200"/>
              <a:t>header</a:t>
            </a:r>
            <a:endParaRPr lang="en-GB" sz="3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7B94E6-ED05-3114-CB3F-1E5D551B9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</p:spPr>
        <p:txBody>
          <a:bodyPr/>
          <a:lstStyle/>
          <a:p>
            <a:pPr algn="just"/>
            <a:r>
              <a:rPr lang="de-DE"/>
              <a:t>text</a:t>
            </a:r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DB8D7B4-B147-8ECD-F349-D89D773F315A}"/>
              </a:ext>
            </a:extLst>
          </p:cNvPr>
          <p:cNvSpPr/>
          <p:nvPr/>
        </p:nvSpPr>
        <p:spPr>
          <a:xfrm>
            <a:off x="216307" y="196644"/>
            <a:ext cx="11769216" cy="6435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31E7F53-D252-37C7-A05C-63712562B34A}"/>
              </a:ext>
            </a:extLst>
          </p:cNvPr>
          <p:cNvSpPr/>
          <p:nvPr/>
        </p:nvSpPr>
        <p:spPr>
          <a:xfrm>
            <a:off x="216308" y="196644"/>
            <a:ext cx="2025448" cy="47456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de-DE" b="1">
                <a:solidFill>
                  <a:schemeClr val="tx1"/>
                </a:solidFill>
              </a:rPr>
              <a:t>Mutation rates </a:t>
            </a:r>
            <a:r>
              <a:rPr lang="de-DE" b="1" baseline="30000">
                <a:solidFill>
                  <a:schemeClr val="tx1"/>
                </a:solidFill>
              </a:rPr>
              <a:t>[1]</a:t>
            </a:r>
            <a:r>
              <a:rPr lang="de-DE" b="1">
                <a:solidFill>
                  <a:schemeClr val="tx1"/>
                </a:solidFill>
              </a:rPr>
              <a:t> </a:t>
            </a:r>
            <a:endParaRPr lang="en-GB" b="1" baseline="30000">
              <a:solidFill>
                <a:schemeClr val="tx1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3F728E08-0480-8508-8B9F-FFE3FC60DA40}"/>
              </a:ext>
            </a:extLst>
          </p:cNvPr>
          <p:cNvSpPr/>
          <p:nvPr/>
        </p:nvSpPr>
        <p:spPr>
          <a:xfrm>
            <a:off x="216307" y="6192392"/>
            <a:ext cx="11769216" cy="44669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de-DE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endParaRPr lang="en-GB" sz="1000" b="1">
              <a:solidFill>
                <a:schemeClr val="tx1"/>
              </a:solidFill>
            </a:endParaRPr>
          </a:p>
          <a:p>
            <a:r>
              <a:rPr lang="en-GB" sz="1000" b="1">
                <a:solidFill>
                  <a:schemeClr val="tx1"/>
                </a:solidFill>
              </a:rPr>
              <a:t>[1] </a:t>
            </a:r>
            <a:r>
              <a:rPr lang="en-GB" sz="1000">
                <a:solidFill>
                  <a:schemeClr val="tx1"/>
                </a:solidFill>
              </a:rPr>
              <a:t>Popovic, I., Bergeron, L. A., Bozec, Y.-M., Waldvogel, A.-M., Howitt, S. M., Damjanovic, K., Patel, F., Cabrera, M. G., Wörheide, G., Uthicke, S., &amp; Riginos, C. (2024). High germline mutation rates, but not extreme population outbreaks, influence genetic diversity in a keystone coral predator. PLoS Genetics, 20(2), e1011129. https://doi.org/10.1371/journal.pgen.1011129 </a:t>
            </a:r>
          </a:p>
          <a:p>
            <a:r>
              <a:rPr lang="en-GB" sz="1000" b="1">
                <a:solidFill>
                  <a:schemeClr val="tx1"/>
                </a:solidFill>
              </a:rPr>
              <a:t> </a:t>
            </a:r>
          </a:p>
          <a:p>
            <a:br>
              <a:rPr lang="en-GB" sz="1000"/>
            </a:br>
            <a:r>
              <a:rPr lang="de-DE" sz="1000" b="1">
                <a:solidFill>
                  <a:schemeClr val="tx1"/>
                </a:solidFill>
              </a:rPr>
              <a:t> </a:t>
            </a:r>
            <a:endParaRPr lang="en-GB" sz="1000" b="1">
              <a:solidFill>
                <a:schemeClr val="tx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20619CA-52BE-1233-92BC-AB069190DF59}"/>
              </a:ext>
            </a:extLst>
          </p:cNvPr>
          <p:cNvSpPr/>
          <p:nvPr/>
        </p:nvSpPr>
        <p:spPr>
          <a:xfrm>
            <a:off x="11444749" y="193368"/>
            <a:ext cx="540774" cy="46078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1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B03E1DE-765E-1C08-FCC3-5DE67E64A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626" y="353894"/>
            <a:ext cx="2911972" cy="5553364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3042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4790</Words>
  <Application>Microsoft Office PowerPoint</Application>
  <PresentationFormat>Breitbild</PresentationFormat>
  <Paragraphs>639</Paragraphs>
  <Slides>38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Cambria Math</vt:lpstr>
      <vt:lpstr>Office</vt:lpstr>
      <vt:lpstr>Title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header</vt:lpstr>
      <vt:lpstr>PowerPoint-Präsentation</vt:lpstr>
      <vt:lpstr>header</vt:lpstr>
      <vt:lpstr>header</vt:lpstr>
      <vt:lpstr>header</vt:lpstr>
      <vt:lpstr>header</vt:lpstr>
      <vt:lpstr>header</vt:lpstr>
      <vt:lpstr>PowerPoint-Präsentation</vt:lpstr>
      <vt:lpstr>header</vt:lpstr>
      <vt:lpstr>header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Winkler, Benjamin</dc:creator>
  <cp:lastModifiedBy>Winkler, Benjamin</cp:lastModifiedBy>
  <cp:revision>421</cp:revision>
  <dcterms:created xsi:type="dcterms:W3CDTF">2026-07-29T15:32:14Z</dcterms:created>
  <dcterms:modified xsi:type="dcterms:W3CDTF">2026-08-28T10:20:37Z</dcterms:modified>
</cp:coreProperties>
</file>