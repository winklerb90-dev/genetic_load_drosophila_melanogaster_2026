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91" r:id="rId2"/>
    <p:sldId id="329" r:id="rId3"/>
    <p:sldId id="293" r:id="rId4"/>
    <p:sldId id="311" r:id="rId5"/>
    <p:sldId id="312" r:id="rId6"/>
    <p:sldId id="296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03" r:id="rId18"/>
    <p:sldId id="323" r:id="rId19"/>
    <p:sldId id="305" r:id="rId20"/>
    <p:sldId id="324" r:id="rId21"/>
    <p:sldId id="325" r:id="rId22"/>
    <p:sldId id="326" r:id="rId23"/>
    <p:sldId id="327" r:id="rId24"/>
    <p:sldId id="328" r:id="rId25"/>
    <p:sldId id="31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59B17-FE19-4061-A896-A0A3E5921C4D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A877B-3FAE-480A-8894-CA6F2AD36C3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34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2EDC-BBE7-AFB2-2ACF-9422F433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747EA03-6DA3-2A09-7F0D-E101B819B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E709383-7B4B-1DB0-7B68-B79FBEAA9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BB670B-B2B7-8EE3-CD97-64D13F3D0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A877B-3FAE-480A-8894-CA6F2AD36C3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3507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9CF551-5F5E-13D8-20F8-3C7C34902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671DAF7-41A0-A742-D4A1-951E04FF4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D29D37-4C02-3136-7DC6-AB97BA9FC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DA479C-F0D4-520A-2DB9-C4B2AA70C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C594A9-73F8-5D16-CF4A-4F2A73D34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78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F65945-AD9A-B787-FBB0-9E191C725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B04708-E7DD-85A6-C0BC-2C13D24E4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5C450E-B3D0-E316-7D12-86321A508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621C79-1B8D-073C-542A-7C86D4A86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C8F6B2-6EB2-66CC-F3A7-B072AFC2F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785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4448F3-8656-CB88-B6A4-0632D5493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998482-48C4-7CB9-707A-6AC0EB9AD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A6B7A8-BB2C-EAED-EBA5-07B9047E6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070D48-2922-3AE7-D740-06860AA52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AE739F-E9A6-0126-A269-FE802A71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80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9AD8DD-3541-A7DA-C1BA-0F01C2745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4FA0F3-1B5D-3835-C029-FD6796A94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E5A22A8-7DFC-6CC1-4CF6-13C89B0CA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B16C77-76F0-DA6A-3B13-10E1633E2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0ADF033-329E-1844-02C5-8F219066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C6C26D3-9D59-7949-8EB6-DFFE7C97C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2368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4C3AF0-CD09-0F06-5388-7F5D8041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342410-DECE-E97E-2D41-D2BA6E88C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46FF0A-239E-546B-36D1-C729E9830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7DA8CB-3244-DD92-C95E-217F96C94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68B136C-D86A-E513-E112-C1E61EF70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FCC5596-72C6-1B94-92A0-479B8D991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A681E31-339F-F161-AB18-2B8BF5B7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16181FB-7E96-0E34-5030-984C9282B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480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3A81-8F90-1AF0-CB11-4599BE649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0EB8135-4DA6-EC2C-1823-6A3A4425C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CC3D307-EC5B-8D33-19D4-E8EDC451F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11F272C-F8F8-0297-A410-61F43ABC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275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32B6BCA-0E75-EF77-50B1-2B9BFC297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3DC4ABB-3543-AE5E-8FE3-334F27A25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04B6B4-2A91-20B5-7F81-4E333AB73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056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CAD3EF-1114-2BD4-FD30-74EB14A0A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47EB46-447C-7F24-EC36-6265BC837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CA3F3C-067E-4F4D-762B-3D5F8CB79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8ACFC5F-A1C2-1B78-928E-33685D459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07FE8D3-F746-AA15-F3CB-14099926D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118F330-8BBD-4C53-E304-34D10D8E3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27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C21E86-68FC-7B09-2DDB-BB32BF6B4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19E451A-F9D1-142C-A061-E0DEC658F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9B8D032-5181-844B-8DEF-CE69F1033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655E54-519B-079F-8538-CDF12F57D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EADAF3-3ED0-52E9-106A-B6E8EAD10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C7690E-6B72-8B97-EBE0-6F718572A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741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CE3620-1176-BD41-43FA-2B139002D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E790570-1AF0-86E6-B617-4898881A7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A6DF1B-932E-481A-5105-9D6CF3C0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C59F70-0C27-54AE-A02E-80AB719C8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511759-8FC2-60A7-D7C5-232BEA25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238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7F9F2EC-5253-43C8-071A-714A0D27E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D3B4CF-CC99-B7DF-1A7D-FD23C4240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3BCD8E-01C5-E375-91B6-56D019A7D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2F7EFD-7242-00DF-197A-4C1148F66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0003B3-C374-9BF6-4138-B3E85D87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44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BA41414-9BF1-B1DD-5741-8E74103D8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704C72-A0DD-82A4-3DAD-EFD88503D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4741D6-14C0-762F-34FB-E0BD40983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146CA-F57F-4676-A44C-1C021EE9C050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9C1E3B-34B8-95EF-8A32-637B99642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408F4E-5573-AF94-4CA6-BFE120C5A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302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02A94-07D8-D039-0D27-2C4DD96ED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BA762A-4363-5DE6-A0A8-A65003FC4B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Title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EBFDCD1-6DE4-A73A-D3AC-8DC017BFC8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FD78FB7-9829-5A7C-9C48-F67CC074F02E}"/>
              </a:ext>
            </a:extLst>
          </p:cNvPr>
          <p:cNvSpPr/>
          <p:nvPr/>
        </p:nvSpPr>
        <p:spPr>
          <a:xfrm>
            <a:off x="216307" y="196644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FEA8F76-7ED6-8A3E-783A-1DCD405AC665}"/>
              </a:ext>
            </a:extLst>
          </p:cNvPr>
          <p:cNvSpPr/>
          <p:nvPr/>
        </p:nvSpPr>
        <p:spPr>
          <a:xfrm>
            <a:off x="3431622" y="1122363"/>
            <a:ext cx="5328756" cy="15393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400" b="1">
                <a:solidFill>
                  <a:schemeClr val="tx1"/>
                </a:solidFill>
              </a:rPr>
              <a:t>Title</a:t>
            </a:r>
            <a:endParaRPr lang="en-GB" sz="4400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EEA0099-8192-D852-FB28-E6C9653EC352}"/>
              </a:ext>
            </a:extLst>
          </p:cNvPr>
          <p:cNvSpPr/>
          <p:nvPr/>
        </p:nvSpPr>
        <p:spPr>
          <a:xfrm>
            <a:off x="3593772" y="3429000"/>
            <a:ext cx="5004455" cy="11914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Biology internship in M.Sc. Appl. Bioinformatics,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under the supervision of Dr. Tom Keaney,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by Benni Winkler</a:t>
            </a:r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093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8D994-2B65-5ABA-7E5F-B30CEC8BA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95C8C5-72CA-7B29-61ED-357D9654A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6C7B61-F898-EF66-F177-00B119670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CE110B3-FE44-5D17-4A05-3FA666C6E762}"/>
              </a:ext>
            </a:extLst>
          </p:cNvPr>
          <p:cNvSpPr/>
          <p:nvPr/>
        </p:nvSpPr>
        <p:spPr>
          <a:xfrm>
            <a:off x="216307" y="196644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F70A342-93C5-AAC4-DC7F-1798BB97C9DA}"/>
              </a:ext>
            </a:extLst>
          </p:cNvPr>
          <p:cNvSpPr/>
          <p:nvPr/>
        </p:nvSpPr>
        <p:spPr>
          <a:xfrm>
            <a:off x="216308" y="196644"/>
            <a:ext cx="2644880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Types of sexual conflict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2F714C6-E63F-9117-E0DB-19644ABBBDD2}"/>
              </a:ext>
            </a:extLst>
          </p:cNvPr>
          <p:cNvSpPr/>
          <p:nvPr/>
        </p:nvSpPr>
        <p:spPr>
          <a:xfrm>
            <a:off x="4262284" y="909177"/>
            <a:ext cx="3667432" cy="8147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      Sexual conflict</a:t>
            </a:r>
            <a:r>
              <a:rPr lang="de-DE">
                <a:solidFill>
                  <a:schemeClr val="tx1"/>
                </a:solidFill>
              </a:rPr>
              <a:t> is split into: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Pfeil: Chevron 13">
            <a:extLst>
              <a:ext uri="{FF2B5EF4-FFF2-40B4-BE49-F238E27FC236}">
                <a16:creationId xmlns:a16="http://schemas.microsoft.com/office/drawing/2014/main" id="{233992D0-420F-8E48-DCF5-0947BB352859}"/>
              </a:ext>
            </a:extLst>
          </p:cNvPr>
          <p:cNvSpPr/>
          <p:nvPr/>
        </p:nvSpPr>
        <p:spPr>
          <a:xfrm rot="5400000">
            <a:off x="5963264" y="1481607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42B1CC4-0FDA-916D-AF79-8114D87A2A0B}"/>
              </a:ext>
            </a:extLst>
          </p:cNvPr>
          <p:cNvSpPr/>
          <p:nvPr/>
        </p:nvSpPr>
        <p:spPr>
          <a:xfrm>
            <a:off x="1534745" y="2122592"/>
            <a:ext cx="3667432" cy="1291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Interlocus conflict </a:t>
            </a:r>
            <a:r>
              <a:rPr lang="de-DE" b="1" baseline="30000">
                <a:solidFill>
                  <a:schemeClr val="tx1"/>
                </a:solidFill>
              </a:rPr>
              <a:t>[1]</a:t>
            </a:r>
            <a:r>
              <a:rPr lang="de-DE">
                <a:solidFill>
                  <a:schemeClr val="tx1"/>
                </a:solidFill>
              </a:rPr>
              <a:t>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Conflict on an individual level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Sexes exhibit behaviour which harms the other sex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7AFC407-5A27-232F-A8F3-73553515BCDC}"/>
              </a:ext>
            </a:extLst>
          </p:cNvPr>
          <p:cNvSpPr/>
          <p:nvPr/>
        </p:nvSpPr>
        <p:spPr>
          <a:xfrm>
            <a:off x="6989823" y="2125602"/>
            <a:ext cx="3667432" cy="17333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Intralocus conflict</a:t>
            </a:r>
            <a:r>
              <a:rPr lang="de-DE" b="1" baseline="30000">
                <a:solidFill>
                  <a:schemeClr val="tx1"/>
                </a:solidFill>
              </a:rPr>
              <a:t> [2]</a:t>
            </a:r>
            <a:r>
              <a:rPr lang="de-DE">
                <a:solidFill>
                  <a:schemeClr val="tx1"/>
                </a:solidFill>
              </a:rPr>
              <a:t>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Conflict on a populational level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Selection favouring genotypes in  one sex but not the other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(Antagonistic structures on ‚omics‘ levels)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F1A559B-096C-3BEA-A1DC-69EA04E9E030}"/>
              </a:ext>
            </a:extLst>
          </p:cNvPr>
          <p:cNvSpPr/>
          <p:nvPr/>
        </p:nvSpPr>
        <p:spPr>
          <a:xfrm>
            <a:off x="216307" y="5824337"/>
            <a:ext cx="11769216" cy="81474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pPr algn="just"/>
            <a:r>
              <a:rPr lang="de-DE" sz="1000" b="1">
                <a:solidFill>
                  <a:schemeClr val="tx1"/>
                </a:solidFill>
              </a:rPr>
              <a:t>[1] </a:t>
            </a:r>
            <a:r>
              <a:rPr lang="en-GB" sz="1000">
                <a:solidFill>
                  <a:schemeClr val="tx1"/>
                </a:solidFill>
              </a:rPr>
              <a:t>Schenkel, M. A., Pen, I., Beukeboom, L. W., &amp; Billeter, J.-C. (2018). Making sense of intralocus and interlocus sexual conflict. </a:t>
            </a:r>
            <a:r>
              <a:rPr lang="en-GB" sz="1000" i="1">
                <a:solidFill>
                  <a:schemeClr val="tx1"/>
                </a:solidFill>
              </a:rPr>
              <a:t>Ecology and Evolution</a:t>
            </a:r>
            <a:r>
              <a:rPr lang="en-GB" sz="1000">
                <a:solidFill>
                  <a:schemeClr val="tx1"/>
                </a:solidFill>
              </a:rPr>
              <a:t>, </a:t>
            </a:r>
            <a:r>
              <a:rPr lang="en-GB" sz="1000" i="1">
                <a:solidFill>
                  <a:schemeClr val="tx1"/>
                </a:solidFill>
              </a:rPr>
              <a:t>8</a:t>
            </a:r>
            <a:r>
              <a:rPr lang="en-GB" sz="1000">
                <a:solidFill>
                  <a:schemeClr val="tx1"/>
                </a:solidFill>
              </a:rPr>
              <a:t>(24), 13035–13050. https://doi.org/10.1002/ece3.4629</a:t>
            </a:r>
          </a:p>
          <a:p>
            <a:r>
              <a:rPr lang="en-GB" sz="1000" b="1">
                <a:solidFill>
                  <a:schemeClr val="tx1"/>
                </a:solidFill>
              </a:rPr>
              <a:t>[2] </a:t>
            </a:r>
            <a:r>
              <a:rPr lang="en-GB" sz="1000">
                <a:solidFill>
                  <a:schemeClr val="tx1"/>
                </a:solidFill>
              </a:rPr>
              <a:t>Bonduriansky, R., &amp; Chenoweth, S. F. (2009). Intralocus sexual conflict. </a:t>
            </a:r>
            <a:r>
              <a:rPr lang="en-GB" sz="1000" i="1">
                <a:solidFill>
                  <a:schemeClr val="tx1"/>
                </a:solidFill>
              </a:rPr>
              <a:t>TRENDS IN ECOLOGY &amp; EVOLUTION</a:t>
            </a:r>
            <a:r>
              <a:rPr lang="en-GB" sz="1000">
                <a:solidFill>
                  <a:schemeClr val="tx1"/>
                </a:solidFill>
              </a:rPr>
              <a:t>, </a:t>
            </a:r>
            <a:r>
              <a:rPr lang="en-GB" sz="1000" i="1">
                <a:solidFill>
                  <a:schemeClr val="tx1"/>
                </a:solidFill>
              </a:rPr>
              <a:t>24</a:t>
            </a:r>
            <a:r>
              <a:rPr lang="en-GB" sz="1000">
                <a:solidFill>
                  <a:schemeClr val="tx1"/>
                </a:solidFill>
              </a:rPr>
              <a:t>(5), 280–288. https://doi.org/10.1016/j.tree.2008.12.005 </a:t>
            </a:r>
          </a:p>
          <a:p>
            <a:r>
              <a:rPr lang="en-GB" sz="1000" b="1">
                <a:solidFill>
                  <a:schemeClr val="tx1"/>
                </a:solidFill>
              </a:rPr>
              <a:t>[3] </a:t>
            </a:r>
            <a:r>
              <a:rPr lang="en-GB" sz="1000">
                <a:solidFill>
                  <a:schemeClr val="tx1"/>
                </a:solidFill>
              </a:rPr>
              <a:t>Hollis, B., Koppik, M., Wensing, K. U., Ruhmann, H., Genzoni, E., Erkosar, B., Kawecki, T. J., Fricke, C., &amp; Keller, L. (2019). Sexual conflict drives male manipulation of female postmating responses in Drosophila melanogaster. Proceedings of the National Academy of Sciences of the United States of America, 116(17), 8437–8444. https://doi.org/10.1073/pnas.1821386116</a:t>
            </a: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1A5013D-BD2B-DFA7-9A4B-4FABFD135483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</a:t>
            </a:r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63870E38-AB66-E747-0EE8-994908129287}"/>
              </a:ext>
            </a:extLst>
          </p:cNvPr>
          <p:cNvGrpSpPr/>
          <p:nvPr/>
        </p:nvGrpSpPr>
        <p:grpSpPr>
          <a:xfrm>
            <a:off x="8097838" y="4201600"/>
            <a:ext cx="1842136" cy="1004675"/>
            <a:chOff x="8297544" y="4193029"/>
            <a:chExt cx="1842136" cy="1004675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A31F94AB-B795-075A-9942-CC1BEFAE4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97544" y="4193029"/>
              <a:ext cx="1842136" cy="1004675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BFC96EC8-7DAD-4FBF-A32B-008CDC903008}"/>
                </a:ext>
              </a:extLst>
            </p:cNvPr>
            <p:cNvSpPr txBox="1"/>
            <p:nvPr/>
          </p:nvSpPr>
          <p:spPr>
            <a:xfrm>
              <a:off x="8497251" y="4450080"/>
              <a:ext cx="1442721" cy="371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>
                  <a:solidFill>
                    <a:schemeClr val="bg1"/>
                  </a:solidFill>
                </a:rPr>
                <a:t>placeholder</a:t>
              </a:r>
              <a:endParaRPr lang="en-GB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2503BB61-8579-B789-632D-D0A5071A02FA}"/>
              </a:ext>
            </a:extLst>
          </p:cNvPr>
          <p:cNvGrpSpPr/>
          <p:nvPr/>
        </p:nvGrpSpPr>
        <p:grpSpPr>
          <a:xfrm>
            <a:off x="2252026" y="4201600"/>
            <a:ext cx="2139316" cy="1140038"/>
            <a:chOff x="8297544" y="2340277"/>
            <a:chExt cx="2139316" cy="1140038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3B7CD9A6-5642-79E7-B60E-93896784F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97544" y="2340277"/>
              <a:ext cx="1842136" cy="1004675"/>
            </a:xfrm>
            <a:prstGeom prst="rect">
              <a:avLst/>
            </a:prstGeom>
          </p:spPr>
        </p:pic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43520087-1F2F-66C5-B233-4CAB6C6AFE73}"/>
                </a:ext>
              </a:extLst>
            </p:cNvPr>
            <p:cNvSpPr txBox="1"/>
            <p:nvPr/>
          </p:nvSpPr>
          <p:spPr>
            <a:xfrm>
              <a:off x="9817100" y="3203316"/>
              <a:ext cx="6197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aseline="30000"/>
                <a:t>[3]</a:t>
              </a:r>
              <a:endParaRPr lang="en-GB" baseline="30000"/>
            </a:p>
          </p:txBody>
        </p:sp>
      </p:grpSp>
    </p:spTree>
    <p:extLst>
      <p:ext uri="{BB962C8B-B14F-4D97-AF65-F5344CB8AC3E}">
        <p14:creationId xmlns:p14="http://schemas.microsoft.com/office/powerpoint/2010/main" val="3597875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3B12-8D58-A0CF-7A8D-22AA725A9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611D67-9274-038C-D91E-7B1E91235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5E953C-0907-512A-C19A-94EA2CB1A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46CEEC7-33B6-2265-FF36-AC7CA27D79DA}"/>
              </a:ext>
            </a:extLst>
          </p:cNvPr>
          <p:cNvSpPr/>
          <p:nvPr/>
        </p:nvSpPr>
        <p:spPr>
          <a:xfrm>
            <a:off x="216307" y="194032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/>
              <a:t>         </a:t>
            </a:r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024672C-8275-EAFD-C14F-91726B3B7B40}"/>
              </a:ext>
            </a:extLst>
          </p:cNvPr>
          <p:cNvSpPr/>
          <p:nvPr/>
        </p:nvSpPr>
        <p:spPr>
          <a:xfrm>
            <a:off x="216307" y="196644"/>
            <a:ext cx="4513009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Factors influencing intralocus conflict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2DC86C5-0926-474C-ED82-251D87BD02CC}"/>
              </a:ext>
            </a:extLst>
          </p:cNvPr>
          <p:cNvSpPr/>
          <p:nvPr/>
        </p:nvSpPr>
        <p:spPr>
          <a:xfrm>
            <a:off x="358878" y="3098136"/>
            <a:ext cx="3667432" cy="7347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Intralocus conflict </a:t>
            </a:r>
            <a:r>
              <a:rPr lang="de-DE">
                <a:solidFill>
                  <a:schemeClr val="tx1"/>
                </a:solidFill>
              </a:rPr>
              <a:t>is shaped by: </a:t>
            </a:r>
          </a:p>
        </p:txBody>
      </p:sp>
      <p:sp>
        <p:nvSpPr>
          <p:cNvPr id="25" name="Pfeil: Chevron 24">
            <a:extLst>
              <a:ext uri="{FF2B5EF4-FFF2-40B4-BE49-F238E27FC236}">
                <a16:creationId xmlns:a16="http://schemas.microsoft.com/office/drawing/2014/main" id="{3F9D8422-5455-F63A-1104-7764006EF996}"/>
              </a:ext>
            </a:extLst>
          </p:cNvPr>
          <p:cNvSpPr/>
          <p:nvPr/>
        </p:nvSpPr>
        <p:spPr>
          <a:xfrm>
            <a:off x="3893574" y="3231407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B9368A7-AECB-893C-345A-DC3E351DC549}"/>
              </a:ext>
            </a:extLst>
          </p:cNvPr>
          <p:cNvSpPr/>
          <p:nvPr/>
        </p:nvSpPr>
        <p:spPr>
          <a:xfrm>
            <a:off x="4978807" y="1041634"/>
            <a:ext cx="3438834" cy="7287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1) Effect of the alleles in each sex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058D056A-C6F2-DF81-5363-29B5AC0C67FF}"/>
              </a:ext>
            </a:extLst>
          </p:cNvPr>
          <p:cNvSpPr/>
          <p:nvPr/>
        </p:nvSpPr>
        <p:spPr>
          <a:xfrm>
            <a:off x="4978807" y="2320729"/>
            <a:ext cx="3438834" cy="4218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2) Recessiveness of alleles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2FC3C878-DF3A-F28A-C98A-74881C4A650E}"/>
              </a:ext>
            </a:extLst>
          </p:cNvPr>
          <p:cNvSpPr/>
          <p:nvPr/>
        </p:nvSpPr>
        <p:spPr>
          <a:xfrm>
            <a:off x="4978806" y="3292879"/>
            <a:ext cx="3438834" cy="9010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3) Chromosome location of the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    genotype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  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AFFF029-7F44-5390-F0DA-EE193E329D87}"/>
              </a:ext>
            </a:extLst>
          </p:cNvPr>
          <p:cNvSpPr/>
          <p:nvPr/>
        </p:nvSpPr>
        <p:spPr>
          <a:xfrm>
            <a:off x="216307" y="5844398"/>
            <a:ext cx="11769216" cy="79714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[4] </a:t>
            </a:r>
            <a:r>
              <a:rPr lang="en-GB" sz="1000">
                <a:solidFill>
                  <a:schemeClr val="tx1"/>
                </a:solidFill>
              </a:rPr>
              <a:t>Charlesworth, B., Coyne, J. A., &amp; Barton, N. H. (1987). The Relative Rates of Evolution of Sex Chromosomes and Autosomes. The American Naturalist, 130(1), 113–146.</a:t>
            </a:r>
          </a:p>
          <a:p>
            <a:r>
              <a:rPr lang="en-GB" sz="1000" b="1">
                <a:solidFill>
                  <a:schemeClr val="tx1"/>
                </a:solidFill>
              </a:rPr>
              <a:t>[5] </a:t>
            </a:r>
            <a:r>
              <a:rPr lang="en-GB" sz="1000">
                <a:solidFill>
                  <a:schemeClr val="tx1"/>
                </a:solidFill>
              </a:rPr>
              <a:t>Rice, W. R. (1984). Sex Chromosomes and the Evolution of Sexual Dimorphism. Evolution, 38(4), 735–742. https://doi.org/10.1111/j.1558-5646.1984.tb00346.x</a:t>
            </a:r>
          </a:p>
          <a:p>
            <a:r>
              <a:rPr lang="en-GB" sz="1000" b="1">
                <a:solidFill>
                  <a:schemeClr val="tx1"/>
                </a:solidFill>
              </a:rPr>
              <a:t>[6] </a:t>
            </a:r>
            <a:r>
              <a:rPr lang="en-GB" sz="1000">
                <a:solidFill>
                  <a:schemeClr val="tx1"/>
                </a:solidFill>
              </a:rPr>
              <a:t>Kaufman, T. C. (2017). A Short History and Description of Drosophila melanogaster Classical Genetics: Chromosome Aberrations, Forward Genetic Screens, and the Nature of Mutations. Genetics, 206(2), 665–689. https://doi.org/10.1534/genetics.117.199950</a:t>
            </a: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2300979-C4D5-B761-9949-023B5CC662B0}"/>
              </a:ext>
            </a:extLst>
          </p:cNvPr>
          <p:cNvSpPr/>
          <p:nvPr/>
        </p:nvSpPr>
        <p:spPr>
          <a:xfrm>
            <a:off x="4978805" y="4517687"/>
            <a:ext cx="3438834" cy="10029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Theory by: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Charlesworth et al, 1987 </a:t>
            </a:r>
            <a:r>
              <a:rPr lang="de-DE" baseline="30000">
                <a:solidFill>
                  <a:schemeClr val="tx1"/>
                </a:solidFill>
              </a:rPr>
              <a:t>[3]</a:t>
            </a:r>
            <a:endParaRPr lang="de-DE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Rice, 1984 </a:t>
            </a:r>
            <a:r>
              <a:rPr lang="de-DE" baseline="30000">
                <a:solidFill>
                  <a:schemeClr val="tx1"/>
                </a:solidFill>
              </a:rPr>
              <a:t>[4]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F388E4A-6C03-B27E-9FE7-331B70EBB9E8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2</a:t>
            </a:r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93542546-571F-791B-8BBC-17E5C1E5CEA0}"/>
              </a:ext>
            </a:extLst>
          </p:cNvPr>
          <p:cNvGrpSpPr/>
          <p:nvPr/>
        </p:nvGrpSpPr>
        <p:grpSpPr>
          <a:xfrm>
            <a:off x="8563082" y="2143927"/>
            <a:ext cx="1700980" cy="1239542"/>
            <a:chOff x="8682403" y="2056399"/>
            <a:chExt cx="1700980" cy="1239542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8EC7EA83-CDDA-D13D-F9BD-DEABD05F3275}"/>
                </a:ext>
              </a:extLst>
            </p:cNvPr>
            <p:cNvSpPr/>
            <p:nvPr/>
          </p:nvSpPr>
          <p:spPr>
            <a:xfrm>
              <a:off x="8682403" y="2811547"/>
              <a:ext cx="1700980" cy="48439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Aa          AA</a:t>
              </a:r>
              <a:endParaRPr lang="en-GB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26195943-54A1-6AB7-3900-02EA27779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6963" y="2056399"/>
              <a:ext cx="1332821" cy="86933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6" name="Rechteck 25">
            <a:extLst>
              <a:ext uri="{FF2B5EF4-FFF2-40B4-BE49-F238E27FC236}">
                <a16:creationId xmlns:a16="http://schemas.microsoft.com/office/drawing/2014/main" id="{EE98A70A-1C02-2BE2-E7ED-2991848CAD5C}"/>
              </a:ext>
            </a:extLst>
          </p:cNvPr>
          <p:cNvSpPr/>
          <p:nvPr/>
        </p:nvSpPr>
        <p:spPr>
          <a:xfrm>
            <a:off x="8829812" y="5019160"/>
            <a:ext cx="2052823" cy="48439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XX                          XY</a:t>
            </a:r>
            <a:endParaRPr lang="en-GB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CDA0772D-9F52-EBFA-423D-BCB21F249604}"/>
              </a:ext>
            </a:extLst>
          </p:cNvPr>
          <p:cNvGrpSpPr/>
          <p:nvPr/>
        </p:nvGrpSpPr>
        <p:grpSpPr>
          <a:xfrm>
            <a:off x="8563082" y="3903878"/>
            <a:ext cx="2663314" cy="1227617"/>
            <a:chOff x="8948583" y="3098136"/>
            <a:chExt cx="2276462" cy="9340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862CA4B0-AA5A-2440-D654-7F5AC25E6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9489"/>
            <a:stretch>
              <a:fillRect/>
            </a:stretch>
          </p:blipFill>
          <p:spPr>
            <a:xfrm>
              <a:off x="8948583" y="3117021"/>
              <a:ext cx="1139314" cy="915153"/>
            </a:xfrm>
            <a:prstGeom prst="rect">
              <a:avLst/>
            </a:pr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9743BEC7-A422-6FC6-E68F-E5391D9E1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9566"/>
            <a:stretch>
              <a:fillRect/>
            </a:stretch>
          </p:blipFill>
          <p:spPr>
            <a:xfrm>
              <a:off x="10087897" y="3098136"/>
              <a:ext cx="1137148" cy="915153"/>
            </a:xfrm>
            <a:prstGeom prst="rect">
              <a:avLst/>
            </a:prstGeom>
          </p:spPr>
        </p:pic>
      </p:grpSp>
      <p:sp>
        <p:nvSpPr>
          <p:cNvPr id="15" name="Pfeil: Chevron 14">
            <a:extLst>
              <a:ext uri="{FF2B5EF4-FFF2-40B4-BE49-F238E27FC236}">
                <a16:creationId xmlns:a16="http://schemas.microsoft.com/office/drawing/2014/main" id="{CCA9C856-B92B-59A0-B4C2-BEE83D1C5997}"/>
              </a:ext>
            </a:extLst>
          </p:cNvPr>
          <p:cNvSpPr/>
          <p:nvPr/>
        </p:nvSpPr>
        <p:spPr>
          <a:xfrm rot="5400000">
            <a:off x="6565486" y="4262960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A529C79D-EE22-0903-E37C-ECC48E7F2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0326" y="1091604"/>
            <a:ext cx="1104546" cy="602404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B46049FE-D346-9B7B-EEE1-657CCDFBB470}"/>
              </a:ext>
            </a:extLst>
          </p:cNvPr>
          <p:cNvSpPr txBox="1"/>
          <p:nvPr/>
        </p:nvSpPr>
        <p:spPr>
          <a:xfrm>
            <a:off x="10917474" y="5048548"/>
            <a:ext cx="619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aseline="30000"/>
              <a:t>[5]</a:t>
            </a:r>
            <a:endParaRPr lang="en-GB" baseline="30000"/>
          </a:p>
        </p:txBody>
      </p:sp>
    </p:spTree>
    <p:extLst>
      <p:ext uri="{BB962C8B-B14F-4D97-AF65-F5344CB8AC3E}">
        <p14:creationId xmlns:p14="http://schemas.microsoft.com/office/powerpoint/2010/main" val="836097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5BFDA-EF73-D5FB-C541-B74A027D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A29C90-4729-CF50-F2C8-6066C209B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C42FD7-9979-6801-1DC3-22F24502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53C95DF-0EFF-401F-F03E-B6A2729DDE89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E1B7364-5EA1-BCE4-AA71-BAF7DD958E2C}"/>
              </a:ext>
            </a:extLst>
          </p:cNvPr>
          <p:cNvSpPr/>
          <p:nvPr/>
        </p:nvSpPr>
        <p:spPr>
          <a:xfrm>
            <a:off x="216307" y="196644"/>
            <a:ext cx="5432653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Charlesworth et al, 1987 –  Beneficial mutations </a:t>
            </a:r>
            <a:r>
              <a:rPr lang="de-DE" b="1" baseline="30000">
                <a:solidFill>
                  <a:schemeClr val="tx1"/>
                </a:solidFill>
              </a:rPr>
              <a:t>[4]</a:t>
            </a:r>
            <a:r>
              <a:rPr lang="de-DE" b="1">
                <a:solidFill>
                  <a:schemeClr val="tx1"/>
                </a:solidFill>
              </a:rPr>
              <a:t>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58B6566-898D-0455-8154-3D0AB69E14EB}"/>
              </a:ext>
            </a:extLst>
          </p:cNvPr>
          <p:cNvSpPr/>
          <p:nvPr/>
        </p:nvSpPr>
        <p:spPr>
          <a:xfrm>
            <a:off x="216307" y="6174506"/>
            <a:ext cx="11769216" cy="47686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[4] </a:t>
            </a:r>
            <a:r>
              <a:rPr lang="en-GB" sz="1000">
                <a:solidFill>
                  <a:schemeClr val="tx1"/>
                </a:solidFill>
              </a:rPr>
              <a:t>Charlesworth, B., Coyne, J. A., &amp; Barton, N. H. (1987). The Relative Rates of Evolution of Sex Chromosomes and Autosomes. The American Naturalist, 130(1), 113–146.</a:t>
            </a: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FDBBC49-48D3-7390-F753-B16E52D73424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3</a:t>
            </a:r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D4E90D16-E4CC-F033-6D4B-8EE249D2B64C}"/>
              </a:ext>
            </a:extLst>
          </p:cNvPr>
          <p:cNvGrpSpPr/>
          <p:nvPr/>
        </p:nvGrpSpPr>
        <p:grpSpPr>
          <a:xfrm>
            <a:off x="3987635" y="1223969"/>
            <a:ext cx="4216729" cy="693317"/>
            <a:chOff x="1081548" y="1465006"/>
            <a:chExt cx="3647768" cy="5997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8024D419-91EF-B920-3DA6-443A585B4307}"/>
                </a:ext>
              </a:extLst>
            </p:cNvPr>
            <p:cNvSpPr/>
            <p:nvPr/>
          </p:nvSpPr>
          <p:spPr>
            <a:xfrm>
              <a:off x="1081548" y="1465006"/>
              <a:ext cx="3647768" cy="59976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899D445D-9117-2CEC-4D0E-232922686931}"/>
                </a:ext>
              </a:extLst>
            </p:cNvPr>
            <p:cNvGrpSpPr/>
            <p:nvPr/>
          </p:nvGrpSpPr>
          <p:grpSpPr>
            <a:xfrm>
              <a:off x="1192162" y="1584008"/>
              <a:ext cx="3447417" cy="358171"/>
              <a:chOff x="838200" y="2173994"/>
              <a:chExt cx="3447417" cy="358171"/>
            </a:xfrm>
          </p:grpSpPr>
          <p:pic>
            <p:nvPicPr>
              <p:cNvPr id="10" name="Grafik 9">
                <a:extLst>
                  <a:ext uri="{FF2B5EF4-FFF2-40B4-BE49-F238E27FC236}">
                    <a16:creationId xmlns:a16="http://schemas.microsoft.com/office/drawing/2014/main" id="{E79C9B38-DAFD-BF52-E5EC-FA4B0AFA61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8200" y="2173994"/>
                <a:ext cx="2034716" cy="358171"/>
              </a:xfrm>
              <a:prstGeom prst="rect">
                <a:avLst/>
              </a:prstGeom>
            </p:spPr>
          </p:pic>
          <p:pic>
            <p:nvPicPr>
              <p:cNvPr id="13" name="Grafik 12">
                <a:extLst>
                  <a:ext uri="{FF2B5EF4-FFF2-40B4-BE49-F238E27FC236}">
                    <a16:creationId xmlns:a16="http://schemas.microsoft.com/office/drawing/2014/main" id="{68A09196-8F6C-DFA7-1964-C27BB10B4B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4381" y="2212098"/>
                <a:ext cx="1341236" cy="281964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CA3874B7-BA05-FF05-326C-87637D49B232}"/>
                  </a:ext>
                </a:extLst>
              </p:cNvPr>
              <p:cNvSpPr/>
              <p:nvPr/>
            </p:nvSpPr>
            <p:spPr>
              <a:xfrm>
                <a:off x="3987634" y="2175279"/>
                <a:ext cx="4216729" cy="8358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de-DE">
                    <a:solidFill>
                      <a:schemeClr val="tx1"/>
                    </a:solidFill>
                  </a:rPr>
                  <a:t>Example, dominant case: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de-DE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≈(4∗</m:t>
                    </m:r>
                    <m:r>
                      <a:rPr lang="de-DE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de-DE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de-DE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de-D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)/(2∗</m:t>
                    </m:r>
                    <m:r>
                      <a:rPr lang="de-DE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de-DE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de-DE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de-D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+1)≈</m:t>
                    </m:r>
                    <m:r>
                      <a:rPr lang="de-DE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1.16</m:t>
                    </m:r>
                  </m:oMath>
                </a14:m>
                <a:r>
                  <a:rPr lang="de-DE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CA3874B7-BA05-FF05-326C-87637D49B2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634" y="2175279"/>
                <a:ext cx="4216729" cy="835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0EE7CFED-853A-C6AB-FE8C-46DECBC6AC6B}"/>
                  </a:ext>
                </a:extLst>
              </p:cNvPr>
              <p:cNvSpPr/>
              <p:nvPr/>
            </p:nvSpPr>
            <p:spPr>
              <a:xfrm>
                <a:off x="3987636" y="3274225"/>
                <a:ext cx="4216728" cy="8358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de-DE">
                    <a:solidFill>
                      <a:schemeClr val="tx1"/>
                    </a:solidFill>
                  </a:rPr>
                  <a:t>Example, recessive case:</a:t>
                </a:r>
              </a:p>
              <a:p>
                <a:pPr algn="just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≈(4∗</m:t>
                      </m:r>
                      <m:r>
                        <a:rPr lang="de-DE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)/(2∗</m:t>
                      </m:r>
                      <m:r>
                        <a:rPr lang="de-DE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+1)≈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0.57</m:t>
                      </m:r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0EE7CFED-853A-C6AB-FE8C-46DECBC6AC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636" y="3274225"/>
                <a:ext cx="4216728" cy="8358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hteck 5">
            <a:extLst>
              <a:ext uri="{FF2B5EF4-FFF2-40B4-BE49-F238E27FC236}">
                <a16:creationId xmlns:a16="http://schemas.microsoft.com/office/drawing/2014/main" id="{19BCCB04-B7AC-0176-4EA1-9998696AE9B5}"/>
              </a:ext>
            </a:extLst>
          </p:cNvPr>
          <p:cNvSpPr/>
          <p:nvPr/>
        </p:nvSpPr>
        <p:spPr>
          <a:xfrm>
            <a:off x="2885767" y="4368091"/>
            <a:ext cx="6420465" cy="938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    In both sexes, recessiveness supports the fixation of new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  beneficial alleles on the X chromosome (faster-X theory)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Pfeil: Chevron 10">
            <a:extLst>
              <a:ext uri="{FF2B5EF4-FFF2-40B4-BE49-F238E27FC236}">
                <a16:creationId xmlns:a16="http://schemas.microsoft.com/office/drawing/2014/main" id="{36CB23A6-CB71-9F47-707F-F22982463FA1}"/>
              </a:ext>
            </a:extLst>
          </p:cNvPr>
          <p:cNvSpPr/>
          <p:nvPr/>
        </p:nvSpPr>
        <p:spPr>
          <a:xfrm>
            <a:off x="2753031" y="4591054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387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DCD81-F54B-F1F1-CC0C-BD1227947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396DFF-2467-F3AF-6C7A-6B58C6230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2E4170-72C3-B4FB-C32F-54B4023C4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701E504-B463-6E81-A164-EDE196BE2E60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0956C06-FACE-C13E-EAB0-BBF3113EB92C}"/>
              </a:ext>
            </a:extLst>
          </p:cNvPr>
          <p:cNvSpPr/>
          <p:nvPr/>
        </p:nvSpPr>
        <p:spPr>
          <a:xfrm>
            <a:off x="216307" y="196644"/>
            <a:ext cx="5552103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Charlesworth et al, 1987 – Deleterious mutations </a:t>
            </a:r>
            <a:r>
              <a:rPr lang="de-DE" b="1" baseline="30000">
                <a:solidFill>
                  <a:schemeClr val="tx1"/>
                </a:solidFill>
              </a:rPr>
              <a:t>[4]</a:t>
            </a:r>
            <a:r>
              <a:rPr lang="de-DE" b="1">
                <a:solidFill>
                  <a:schemeClr val="tx1"/>
                </a:solidFill>
              </a:rPr>
              <a:t>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7D5D509-C680-BE63-3CA7-08B1EB9948D0}"/>
              </a:ext>
            </a:extLst>
          </p:cNvPr>
          <p:cNvSpPr/>
          <p:nvPr/>
        </p:nvSpPr>
        <p:spPr>
          <a:xfrm>
            <a:off x="216307" y="6174506"/>
            <a:ext cx="11769216" cy="47686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[4] </a:t>
            </a:r>
            <a:r>
              <a:rPr lang="en-GB" sz="1000">
                <a:solidFill>
                  <a:schemeClr val="tx1"/>
                </a:solidFill>
              </a:rPr>
              <a:t>Charlesworth, B., Coyne, J. A., &amp; Barton, N. H. (1987). The Relative Rates of Evolution of Sex Chromosomes and Autosomes. The American Naturalist, 130(1), 113–146.</a:t>
            </a: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C9BF220-A205-31D5-4E49-B6F7EF64C7C0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4</a:t>
            </a:r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AC049BFD-C8A4-8FF1-F587-EAFF75EADD4A}"/>
                  </a:ext>
                </a:extLst>
              </p:cNvPr>
              <p:cNvSpPr/>
              <p:nvPr/>
            </p:nvSpPr>
            <p:spPr>
              <a:xfrm>
                <a:off x="3515032" y="2192675"/>
                <a:ext cx="5161936" cy="8358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de-DE">
                    <a:solidFill>
                      <a:schemeClr val="tx1"/>
                    </a:solidFill>
                  </a:rPr>
                  <a:t>Example, dominant case:</a:t>
                </a:r>
              </a:p>
              <a:p>
                <a:pPr algn="just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1/3∗</m:t>
                      </m:r>
                      <m:d>
                        <m:dPr>
                          <m:ctrlPr>
                            <a:rPr lang="de-DE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−0.5</m:t>
                          </m:r>
                        </m:e>
                      </m:d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−0.5)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0.96</m:t>
                      </m:r>
                    </m:oMath>
                  </m:oMathPara>
                </a14:m>
                <a:endParaRPr lang="de-DE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AC049BFD-C8A4-8FF1-F587-EAFF75EADD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032" y="2192675"/>
                <a:ext cx="5161936" cy="8358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D8597E7F-42B5-A34B-C724-361DEF095F93}"/>
              </a:ext>
            </a:extLst>
          </p:cNvPr>
          <p:cNvGrpSpPr/>
          <p:nvPr/>
        </p:nvGrpSpPr>
        <p:grpSpPr>
          <a:xfrm>
            <a:off x="6366089" y="1296796"/>
            <a:ext cx="4896822" cy="616564"/>
            <a:chOff x="948812" y="1512206"/>
            <a:chExt cx="4930878" cy="6208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47DC34F3-CA73-BCB3-0236-8D6931FD6AC4}"/>
                </a:ext>
              </a:extLst>
            </p:cNvPr>
            <p:cNvSpPr/>
            <p:nvPr/>
          </p:nvSpPr>
          <p:spPr>
            <a:xfrm>
              <a:off x="948812" y="1512206"/>
              <a:ext cx="4930878" cy="62085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AC457481-EDE2-2C2D-EB76-79C8B0143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1547" y="1609931"/>
              <a:ext cx="3429297" cy="419136"/>
            </a:xfrm>
            <a:prstGeom prst="rect">
              <a:avLst/>
            </a:prstGeom>
          </p:spPr>
        </p:pic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0A0481BA-5AF1-12E8-90D8-CCC7C0E2D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33628" y="1673487"/>
              <a:ext cx="1234547" cy="35055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E0CB7F23-5737-5AFC-9083-6FB88F58928A}"/>
                  </a:ext>
                </a:extLst>
              </p:cNvPr>
              <p:cNvSpPr/>
              <p:nvPr/>
            </p:nvSpPr>
            <p:spPr>
              <a:xfrm>
                <a:off x="3515032" y="3313682"/>
                <a:ext cx="5161936" cy="8358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de-DE">
                    <a:solidFill>
                      <a:schemeClr val="tx1"/>
                    </a:solidFill>
                  </a:rPr>
                  <a:t>Example, recessive case:</a:t>
                </a:r>
              </a:p>
              <a:p>
                <a:pPr algn="just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1/3∗</m:t>
                      </m:r>
                      <m:d>
                        <m:dPr>
                          <m:ctrlPr>
                            <a:rPr lang="de-D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−0.5</m:t>
                          </m:r>
                        </m:e>
                      </m:d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de-DE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)≈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1.05</m:t>
                      </m:r>
                    </m:oMath>
                  </m:oMathPara>
                </a14:m>
                <a:endParaRPr lang="de-DE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E0CB7F23-5737-5AFC-9083-6FB88F5892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032" y="3313682"/>
                <a:ext cx="5161936" cy="8358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65865806-7900-D24E-A2C4-F324494A70E8}"/>
              </a:ext>
            </a:extLst>
          </p:cNvPr>
          <p:cNvGrpSpPr/>
          <p:nvPr/>
        </p:nvGrpSpPr>
        <p:grpSpPr>
          <a:xfrm>
            <a:off x="1751730" y="1279877"/>
            <a:ext cx="4076551" cy="627664"/>
            <a:chOff x="5080000" y="549886"/>
            <a:chExt cx="3042313" cy="4684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DF85FDF4-270A-8FA8-9DE6-2A13FAF471E3}"/>
                </a:ext>
              </a:extLst>
            </p:cNvPr>
            <p:cNvSpPr/>
            <p:nvPr/>
          </p:nvSpPr>
          <p:spPr>
            <a:xfrm>
              <a:off x="5080000" y="549886"/>
              <a:ext cx="3042313" cy="46842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1E2B652B-A3E6-2A4F-C436-13605DCCD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61247" y="630777"/>
              <a:ext cx="2301439" cy="312447"/>
            </a:xfrm>
            <a:prstGeom prst="rect">
              <a:avLst/>
            </a:prstGeom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43448419-622B-A967-7D74-16E10281D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62686" y="645502"/>
              <a:ext cx="586791" cy="266723"/>
            </a:xfrm>
            <a:prstGeom prst="rect">
              <a:avLst/>
            </a:prstGeom>
          </p:spPr>
        </p:pic>
      </p:grpSp>
      <p:sp>
        <p:nvSpPr>
          <p:cNvPr id="16" name="Rechteck 15">
            <a:extLst>
              <a:ext uri="{FF2B5EF4-FFF2-40B4-BE49-F238E27FC236}">
                <a16:creationId xmlns:a16="http://schemas.microsoft.com/office/drawing/2014/main" id="{C84A3033-B447-C270-C510-A8B7710EC82C}"/>
              </a:ext>
            </a:extLst>
          </p:cNvPr>
          <p:cNvSpPr/>
          <p:nvPr/>
        </p:nvSpPr>
        <p:spPr>
          <a:xfrm>
            <a:off x="2462380" y="4422805"/>
            <a:ext cx="7267240" cy="9701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    When selection acts on both sexes or males only, recessiveness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  impedes the fixation of new deleterious alleles on the X chromosome</a:t>
            </a:r>
          </a:p>
        </p:txBody>
      </p:sp>
      <p:sp>
        <p:nvSpPr>
          <p:cNvPr id="32" name="Pfeil: Chevron 31">
            <a:extLst>
              <a:ext uri="{FF2B5EF4-FFF2-40B4-BE49-F238E27FC236}">
                <a16:creationId xmlns:a16="http://schemas.microsoft.com/office/drawing/2014/main" id="{F5DF3F9F-8A36-26D7-5A5E-595E514B31EC}"/>
              </a:ext>
            </a:extLst>
          </p:cNvPr>
          <p:cNvSpPr/>
          <p:nvPr/>
        </p:nvSpPr>
        <p:spPr>
          <a:xfrm>
            <a:off x="2329644" y="4665583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254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00795-9F25-73D1-6CD2-601C65285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2781B5-8579-6850-29D3-D3A37D3BF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9BAB39-F987-9AB1-AE49-44BF4ECB7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66E4041-4E90-F0A7-851A-968F6B95C752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66AB8F2-8BD9-1EE4-3F62-BA987E44AFB5}"/>
              </a:ext>
            </a:extLst>
          </p:cNvPr>
          <p:cNvSpPr/>
          <p:nvPr/>
        </p:nvSpPr>
        <p:spPr>
          <a:xfrm>
            <a:off x="216307" y="196644"/>
            <a:ext cx="4513009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Rice, 1984 – Antagonistic mutations </a:t>
            </a:r>
            <a:r>
              <a:rPr lang="de-DE" b="1" baseline="30000">
                <a:solidFill>
                  <a:schemeClr val="tx1"/>
                </a:solidFill>
              </a:rPr>
              <a:t>[5]</a:t>
            </a:r>
            <a:r>
              <a:rPr lang="de-DE" b="1">
                <a:solidFill>
                  <a:schemeClr val="tx1"/>
                </a:solidFill>
              </a:rPr>
              <a:t>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2588851-0314-1B5F-92F7-21B20131B70D}"/>
              </a:ext>
            </a:extLst>
          </p:cNvPr>
          <p:cNvSpPr/>
          <p:nvPr/>
        </p:nvSpPr>
        <p:spPr>
          <a:xfrm>
            <a:off x="216307" y="6174506"/>
            <a:ext cx="11769216" cy="47686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[5] </a:t>
            </a:r>
            <a:r>
              <a:rPr lang="en-GB" sz="1000">
                <a:solidFill>
                  <a:schemeClr val="tx1"/>
                </a:solidFill>
              </a:rPr>
              <a:t>Rice, W. R. (1984). Sex Chromosomes and the Evolution of Sexual Dimorphism. Evolution, 38(4), 735–742. https://doi.org/10.1111/j.1558-5646.1984.tb00346.x</a:t>
            </a: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3F35929-D3F7-5CFD-0A56-13200682518C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5</a:t>
            </a:r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A0323F59-8664-3FD7-DD63-0C955D330DE6}"/>
                  </a:ext>
                </a:extLst>
              </p:cNvPr>
              <p:cNvSpPr/>
              <p:nvPr/>
            </p:nvSpPr>
            <p:spPr>
              <a:xfrm>
                <a:off x="3515032" y="2267609"/>
                <a:ext cx="5161936" cy="8358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de-DE">
                    <a:solidFill>
                      <a:schemeClr val="tx1"/>
                    </a:solidFill>
                  </a:rPr>
                  <a:t>Example, dominant case:</a:t>
                </a:r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(2∗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∗0.4)/(1−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∗0.4)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de-DE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0.77</m:t>
                      </m:r>
                    </m:oMath>
                  </m:oMathPara>
                </a14:m>
                <a:endParaRPr lang="de-DE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A0323F59-8664-3FD7-DD63-0C955D330D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032" y="2267609"/>
                <a:ext cx="5161936" cy="8358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fik 15">
            <a:extLst>
              <a:ext uri="{FF2B5EF4-FFF2-40B4-BE49-F238E27FC236}">
                <a16:creationId xmlns:a16="http://schemas.microsoft.com/office/drawing/2014/main" id="{0AC292F5-BA16-9E6D-BBB0-4DCFD366E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731" y="1063245"/>
            <a:ext cx="3444538" cy="929721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BAF330F7-C715-E9D2-766B-AFDFC2248D5E}"/>
                  </a:ext>
                </a:extLst>
              </p:cNvPr>
              <p:cNvSpPr/>
              <p:nvPr/>
            </p:nvSpPr>
            <p:spPr>
              <a:xfrm>
                <a:off x="3515032" y="3378125"/>
                <a:ext cx="5161936" cy="8358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de-DE">
                    <a:solidFill>
                      <a:schemeClr val="tx1"/>
                    </a:solidFill>
                  </a:rPr>
                  <a:t>Example, recessive case:</a:t>
                </a:r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de-D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&gt;(2∗</m:t>
                      </m:r>
                      <m:r>
                        <a:rPr lang="de-DE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∗0.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)/(1−</m:t>
                      </m:r>
                      <m:r>
                        <a:rPr lang="de-DE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∗0.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)⇔</m:t>
                      </m:r>
                      <m:r>
                        <m:rPr>
                          <m:sty m:val="p"/>
                        </m:rP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&gt;0.22</m:t>
                      </m:r>
                    </m:oMath>
                  </m:oMathPara>
                </a14:m>
                <a:endParaRPr lang="de-DE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BAF330F7-C715-E9D2-766B-AFDFC2248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032" y="3378125"/>
                <a:ext cx="5161936" cy="835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hteck 4">
            <a:extLst>
              <a:ext uri="{FF2B5EF4-FFF2-40B4-BE49-F238E27FC236}">
                <a16:creationId xmlns:a16="http://schemas.microsoft.com/office/drawing/2014/main" id="{27CAFC5B-991C-0994-B25F-663E3E4DF170}"/>
              </a:ext>
            </a:extLst>
          </p:cNvPr>
          <p:cNvSpPr/>
          <p:nvPr/>
        </p:nvSpPr>
        <p:spPr>
          <a:xfrm>
            <a:off x="2323075" y="4488641"/>
            <a:ext cx="7921933" cy="938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    As long as a X-linked allele is recessive enough, the fitness increase in males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  outweighs the fitness decrease in females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Pfeil: Chevron 31">
            <a:extLst>
              <a:ext uri="{FF2B5EF4-FFF2-40B4-BE49-F238E27FC236}">
                <a16:creationId xmlns:a16="http://schemas.microsoft.com/office/drawing/2014/main" id="{15684F33-72AE-33EA-9ABF-A7D8AF8132EC}"/>
              </a:ext>
            </a:extLst>
          </p:cNvPr>
          <p:cNvSpPr/>
          <p:nvPr/>
        </p:nvSpPr>
        <p:spPr>
          <a:xfrm>
            <a:off x="2207340" y="4721079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331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1BD8F-A674-42CF-3A18-81A382D73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3A8E69-F1F4-2124-7051-6768F08B4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05B25D-61AC-B8B8-F8E0-29E902CDD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1D5C2D7-DAF2-7A0C-E2EC-7D7C655AD960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0BF2049-A2F8-5FC9-78FD-D4C34157CB56}"/>
              </a:ext>
            </a:extLst>
          </p:cNvPr>
          <p:cNvSpPr/>
          <p:nvPr/>
        </p:nvSpPr>
        <p:spPr>
          <a:xfrm>
            <a:off x="216307" y="196644"/>
            <a:ext cx="4701133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Summary on theory and research question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75C1B00-C625-B958-FF21-BA9521044160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6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408FAC8-4FBE-781C-5B10-43FF135754F8}"/>
              </a:ext>
            </a:extLst>
          </p:cNvPr>
          <p:cNvSpPr/>
          <p:nvPr/>
        </p:nvSpPr>
        <p:spPr>
          <a:xfrm>
            <a:off x="2027903" y="1179872"/>
            <a:ext cx="6516330" cy="8147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    Recessive beneficial alleles fix  faster on the X chromosome,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  but if male-deleterious fix slower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FB2A075-C37C-9584-A21B-3B8303F7DAD8}"/>
              </a:ext>
            </a:extLst>
          </p:cNvPr>
          <p:cNvSpPr/>
          <p:nvPr/>
        </p:nvSpPr>
        <p:spPr>
          <a:xfrm>
            <a:off x="2027902" y="2289151"/>
            <a:ext cx="7666703" cy="8147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    Antagonistic and recessive X-linked alleles favour the heterogametic sex  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3C51C05-1A9F-3B11-5F36-3E73DCD88B1B}"/>
              </a:ext>
            </a:extLst>
          </p:cNvPr>
          <p:cNvSpPr/>
          <p:nvPr/>
        </p:nvSpPr>
        <p:spPr>
          <a:xfrm>
            <a:off x="2027902" y="3387034"/>
            <a:ext cx="6604821" cy="8147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    Recessive X-linked alleles are constantly exposed to selection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  in males but may stay masked in females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F5C0BD8-BB8D-142A-3F70-E26E09985A37}"/>
              </a:ext>
            </a:extLst>
          </p:cNvPr>
          <p:cNvSpPr/>
          <p:nvPr/>
        </p:nvSpPr>
        <p:spPr>
          <a:xfrm>
            <a:off x="2027902" y="4484916"/>
            <a:ext cx="6152537" cy="10929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    „Does the number of  X-linked deleterious variants impact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  female fitness more severely than male fitness?“</a:t>
            </a:r>
          </a:p>
        </p:txBody>
      </p:sp>
      <p:sp>
        <p:nvSpPr>
          <p:cNvPr id="25" name="Pfeil: Chevron 24">
            <a:extLst>
              <a:ext uri="{FF2B5EF4-FFF2-40B4-BE49-F238E27FC236}">
                <a16:creationId xmlns:a16="http://schemas.microsoft.com/office/drawing/2014/main" id="{05AEA1F3-B9AC-0C81-3EB0-CF696DE73A51}"/>
              </a:ext>
            </a:extLst>
          </p:cNvPr>
          <p:cNvSpPr/>
          <p:nvPr/>
        </p:nvSpPr>
        <p:spPr>
          <a:xfrm>
            <a:off x="1895166" y="4778076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Pfeil: Chevron 4">
            <a:extLst>
              <a:ext uri="{FF2B5EF4-FFF2-40B4-BE49-F238E27FC236}">
                <a16:creationId xmlns:a16="http://schemas.microsoft.com/office/drawing/2014/main" id="{08B9DE4C-9D02-6CE4-25E1-51E2EEB4D59A}"/>
              </a:ext>
            </a:extLst>
          </p:cNvPr>
          <p:cNvSpPr/>
          <p:nvPr/>
        </p:nvSpPr>
        <p:spPr>
          <a:xfrm>
            <a:off x="1895165" y="1352977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Pfeil: Chevron 7">
            <a:extLst>
              <a:ext uri="{FF2B5EF4-FFF2-40B4-BE49-F238E27FC236}">
                <a16:creationId xmlns:a16="http://schemas.microsoft.com/office/drawing/2014/main" id="{A6F20B91-1A8A-25C8-C7ED-EDE0086C9598}"/>
              </a:ext>
            </a:extLst>
          </p:cNvPr>
          <p:cNvSpPr/>
          <p:nvPr/>
        </p:nvSpPr>
        <p:spPr>
          <a:xfrm>
            <a:off x="1895165" y="2459478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Pfeil: Chevron 10">
            <a:extLst>
              <a:ext uri="{FF2B5EF4-FFF2-40B4-BE49-F238E27FC236}">
                <a16:creationId xmlns:a16="http://schemas.microsoft.com/office/drawing/2014/main" id="{7AC72389-3178-F712-F02F-652BE9B04F14}"/>
              </a:ext>
            </a:extLst>
          </p:cNvPr>
          <p:cNvSpPr/>
          <p:nvPr/>
        </p:nvSpPr>
        <p:spPr>
          <a:xfrm>
            <a:off x="1895165" y="3557361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Pfeil: Chevron 13">
            <a:extLst>
              <a:ext uri="{FF2B5EF4-FFF2-40B4-BE49-F238E27FC236}">
                <a16:creationId xmlns:a16="http://schemas.microsoft.com/office/drawing/2014/main" id="{B940A6AD-DCD7-3DE4-6A8F-8D20A84DC038}"/>
              </a:ext>
            </a:extLst>
          </p:cNvPr>
          <p:cNvSpPr/>
          <p:nvPr/>
        </p:nvSpPr>
        <p:spPr>
          <a:xfrm>
            <a:off x="1686233" y="4778076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Pfeil: Chevron 15">
            <a:extLst>
              <a:ext uri="{FF2B5EF4-FFF2-40B4-BE49-F238E27FC236}">
                <a16:creationId xmlns:a16="http://schemas.microsoft.com/office/drawing/2014/main" id="{E7B9ECBB-7E66-8509-ACE6-7AED6B2C572D}"/>
              </a:ext>
            </a:extLst>
          </p:cNvPr>
          <p:cNvSpPr/>
          <p:nvPr/>
        </p:nvSpPr>
        <p:spPr>
          <a:xfrm>
            <a:off x="1457630" y="4778076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528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29219-D714-5832-5057-215F78156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70C7AD-3565-6FF9-B88C-549D7AE61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EA14AF-D563-EE4B-FDCD-4FCFE606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A1ED52F-DA51-C2EF-A9BF-12AEDEE355CF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3DFF50A-88BD-FDE0-1BD8-1CD418788ADD}"/>
              </a:ext>
            </a:extLst>
          </p:cNvPr>
          <p:cNvSpPr/>
          <p:nvPr/>
        </p:nvSpPr>
        <p:spPr>
          <a:xfrm>
            <a:off x="216307" y="196644"/>
            <a:ext cx="1376519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Methods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068A5D1-B8A1-C8D4-2354-8933B9AC0826}"/>
              </a:ext>
            </a:extLst>
          </p:cNvPr>
          <p:cNvSpPr/>
          <p:nvPr/>
        </p:nvSpPr>
        <p:spPr>
          <a:xfrm>
            <a:off x="216307" y="5179964"/>
            <a:ext cx="11769216" cy="147140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[7] </a:t>
            </a:r>
            <a:r>
              <a:rPr lang="en-GB" sz="1000">
                <a:solidFill>
                  <a:schemeClr val="tx1"/>
                </a:solidFill>
              </a:rPr>
              <a:t>Mackay, T. F. C., Richards, S., Stone, E. A., Barbadilla, A., Ayroles, J. F., Zhu, D., Casillas, S., Han, Y., Magwire, M. M., Cridland, J. M., Richardson, M. F., Anholt, R. R. H., Barrón, M., Bess, C., Blankenburg, K. P., Carbone, M. A., Castellano, D., Chaboub, L., Duncan, L., … Gibbs, R. A. (2012). The Drosophila melanogaster Genetic Reference Panel. Nature, 482(7384), 173–178. https://doi.org/10.1038/nature10811</a:t>
            </a:r>
          </a:p>
          <a:p>
            <a:r>
              <a:rPr lang="en-GB" sz="1000" b="1">
                <a:solidFill>
                  <a:schemeClr val="tx1"/>
                </a:solidFill>
              </a:rPr>
              <a:t>[8]</a:t>
            </a:r>
            <a:r>
              <a:rPr lang="en-GB" sz="1000">
                <a:solidFill>
                  <a:schemeClr val="tx1"/>
                </a:solidFill>
              </a:rPr>
              <a:t> Cingolani, P., Platts, A., Wang, L. L., Coon, M., Nguyen, T., Wang, L., Land, S. J., Lu, X., &amp; Ruden, D. M. (2012). A program for annotating and predicting the effects of single nucleotide polymorphisms, SnpEff. Fly, 6(2), 80–92. https://doi.org/10.4161/fly.19695</a:t>
            </a:r>
          </a:p>
          <a:p>
            <a:r>
              <a:rPr lang="en-GB" sz="1000" b="1">
                <a:solidFill>
                  <a:schemeClr val="tx1"/>
                </a:solidFill>
              </a:rPr>
              <a:t>[9] </a:t>
            </a:r>
            <a:r>
              <a:rPr lang="en-GB" sz="1000">
                <a:solidFill>
                  <a:schemeClr val="tx1"/>
                </a:solidFill>
              </a:rPr>
              <a:t>Davydov, E. V., Goode, D. L., Sirota, M., Cooper, G. M., Sidow, A., &amp; Batzoglou, S. (2010). Identifying a high fraction of the human genome to be under selective constraint using GERP++. PLoS Computational Biology, 6(12), e1001025. https://doi.org/10.1371/journal.pcbi.1001025 </a:t>
            </a:r>
          </a:p>
          <a:p>
            <a:r>
              <a:rPr lang="en-GB" sz="1000" b="1">
                <a:solidFill>
                  <a:schemeClr val="tx1"/>
                </a:solidFill>
              </a:rPr>
              <a:t>[10] </a:t>
            </a:r>
            <a:r>
              <a:rPr lang="en-GB" sz="1000">
                <a:solidFill>
                  <a:schemeClr val="tx1"/>
                </a:solidFill>
              </a:rPr>
              <a:t>Wong, H. W. S., &amp; Holman, L. (2023). Pleiotropic fitness effects across sexes and ages in the Drosophila genome and transcriptome. Evolution, 77(12), 2642–2655. https://doi.org/10.1093/evolut/qpad163</a:t>
            </a:r>
          </a:p>
          <a:p>
            <a:r>
              <a:rPr lang="en-GB" sz="1000" b="1">
                <a:solidFill>
                  <a:schemeClr val="tx1"/>
                </a:solidFill>
              </a:rPr>
              <a:t>[11] </a:t>
            </a:r>
            <a:r>
              <a:rPr lang="en-GB" sz="1000">
                <a:solidFill>
                  <a:schemeClr val="tx1"/>
                </a:solidFill>
              </a:rPr>
              <a:t>Bürkner, P.-C. (2017). brms: An R Package for Bayesian Multilevel Models Using Stan. Journal of Statistical Software, 80, 1–28. https://doi.org/10.18637/jss.v080.i01</a:t>
            </a: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8E3DD91-1660-C71A-9D7D-3A95B3D57AF0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7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D07985A-D37F-36D9-75D4-F72017223BAF}"/>
              </a:ext>
            </a:extLst>
          </p:cNvPr>
          <p:cNvSpPr/>
          <p:nvPr/>
        </p:nvSpPr>
        <p:spPr>
          <a:xfrm>
            <a:off x="470885" y="1741633"/>
            <a:ext cx="3643915" cy="774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Drosophila genetic reference panel (DGRP) genotypes </a:t>
            </a:r>
            <a:r>
              <a:rPr lang="de-DE" baseline="30000">
                <a:solidFill>
                  <a:schemeClr val="tx1"/>
                </a:solidFill>
              </a:rPr>
              <a:t>[7]</a:t>
            </a:r>
            <a:endParaRPr lang="de-DE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Pfeil: Chevron 8">
            <a:extLst>
              <a:ext uri="{FF2B5EF4-FFF2-40B4-BE49-F238E27FC236}">
                <a16:creationId xmlns:a16="http://schemas.microsoft.com/office/drawing/2014/main" id="{D0419346-7665-5558-DE12-FBDCBE68A4B0}"/>
              </a:ext>
            </a:extLst>
          </p:cNvPr>
          <p:cNvSpPr/>
          <p:nvPr/>
        </p:nvSpPr>
        <p:spPr>
          <a:xfrm>
            <a:off x="4176004" y="1879204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33A5D0F-F869-ACFC-F8A7-1BE2BB1C2794}"/>
              </a:ext>
            </a:extLst>
          </p:cNvPr>
          <p:cNvSpPr/>
          <p:nvPr/>
        </p:nvSpPr>
        <p:spPr>
          <a:xfrm>
            <a:off x="4502679" y="1741633"/>
            <a:ext cx="2934108" cy="774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Identification of putatively deleterious variants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7F9631D-2321-7AFF-0F15-CC1005F68817}"/>
              </a:ext>
            </a:extLst>
          </p:cNvPr>
          <p:cNvSpPr/>
          <p:nvPr/>
        </p:nvSpPr>
        <p:spPr>
          <a:xfrm>
            <a:off x="4502678" y="2515647"/>
            <a:ext cx="1443135" cy="5802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Via SnpEff </a:t>
            </a:r>
            <a:r>
              <a:rPr lang="de-DE" baseline="30000">
                <a:solidFill>
                  <a:schemeClr val="tx1"/>
                </a:solidFill>
              </a:rPr>
              <a:t>[8]</a:t>
            </a:r>
            <a:endParaRPr lang="de-DE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4E9445B3-F987-8F6E-151F-4E1D64F16500}"/>
              </a:ext>
            </a:extLst>
          </p:cNvPr>
          <p:cNvSpPr/>
          <p:nvPr/>
        </p:nvSpPr>
        <p:spPr>
          <a:xfrm>
            <a:off x="4502679" y="3071363"/>
            <a:ext cx="1443134" cy="5802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Via GERP </a:t>
            </a:r>
            <a:r>
              <a:rPr lang="de-DE" baseline="30000">
                <a:solidFill>
                  <a:schemeClr val="tx1"/>
                </a:solidFill>
              </a:rPr>
              <a:t>[9]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Pfeil: Chevron 20">
            <a:extLst>
              <a:ext uri="{FF2B5EF4-FFF2-40B4-BE49-F238E27FC236}">
                <a16:creationId xmlns:a16="http://schemas.microsoft.com/office/drawing/2014/main" id="{20873CC9-2FF9-389E-B6EA-215CD5C3D4E9}"/>
              </a:ext>
            </a:extLst>
          </p:cNvPr>
          <p:cNvSpPr/>
          <p:nvPr/>
        </p:nvSpPr>
        <p:spPr>
          <a:xfrm>
            <a:off x="7497991" y="1879204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ECB354B-6AC0-6890-4986-9794D0C216D4}"/>
              </a:ext>
            </a:extLst>
          </p:cNvPr>
          <p:cNvSpPr/>
          <p:nvPr/>
        </p:nvSpPr>
        <p:spPr>
          <a:xfrm>
            <a:off x="7819919" y="1741633"/>
            <a:ext cx="2018401" cy="774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Match with fitness essays </a:t>
            </a:r>
            <a:r>
              <a:rPr lang="de-DE" baseline="30000">
                <a:solidFill>
                  <a:schemeClr val="tx1"/>
                </a:solidFill>
              </a:rPr>
              <a:t>[10]</a:t>
            </a:r>
            <a:endParaRPr lang="de-DE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1" name="Pfeil: Chevron 30">
            <a:extLst>
              <a:ext uri="{FF2B5EF4-FFF2-40B4-BE49-F238E27FC236}">
                <a16:creationId xmlns:a16="http://schemas.microsoft.com/office/drawing/2014/main" id="{55620C50-1910-3A2F-B497-87BCB7AF77BC}"/>
              </a:ext>
            </a:extLst>
          </p:cNvPr>
          <p:cNvSpPr/>
          <p:nvPr/>
        </p:nvSpPr>
        <p:spPr>
          <a:xfrm>
            <a:off x="9921399" y="1879204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602324A9-C1B3-1A0A-7015-FA2B97E0C18F}"/>
              </a:ext>
            </a:extLst>
          </p:cNvPr>
          <p:cNvSpPr/>
          <p:nvPr/>
        </p:nvSpPr>
        <p:spPr>
          <a:xfrm>
            <a:off x="10253157" y="1741633"/>
            <a:ext cx="1443135" cy="774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Calculate genetic load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7" name="Pfeil: Chevron 36">
            <a:extLst>
              <a:ext uri="{FF2B5EF4-FFF2-40B4-BE49-F238E27FC236}">
                <a16:creationId xmlns:a16="http://schemas.microsoft.com/office/drawing/2014/main" id="{D9BB6082-7E14-AA83-4C40-85BE7F476F33}"/>
              </a:ext>
            </a:extLst>
          </p:cNvPr>
          <p:cNvSpPr/>
          <p:nvPr/>
        </p:nvSpPr>
        <p:spPr>
          <a:xfrm rot="5400000">
            <a:off x="10841988" y="2486241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1D7A304-3ADF-2F2D-AE35-CFF78E91671D}"/>
              </a:ext>
            </a:extLst>
          </p:cNvPr>
          <p:cNvSpPr/>
          <p:nvPr/>
        </p:nvSpPr>
        <p:spPr>
          <a:xfrm>
            <a:off x="6458849" y="3340054"/>
            <a:ext cx="5252391" cy="78926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ln w="0"/>
                <a:solidFill>
                  <a:schemeClr val="tx1"/>
                </a:solidFill>
              </a:rPr>
              <a:t>Fitness ~ </a:t>
            </a:r>
          </a:p>
          <a:p>
            <a:pPr algn="ctr"/>
            <a:r>
              <a:rPr lang="de-DE">
                <a:ln w="0"/>
                <a:solidFill>
                  <a:schemeClr val="tx1"/>
                </a:solidFill>
              </a:rPr>
              <a:t>Genetic load * Sex * Chromosome type + DGRP line</a:t>
            </a:r>
            <a:endParaRPr lang="en-GB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5C038558-321C-73A4-7A27-105525C25038}"/>
              </a:ext>
            </a:extLst>
          </p:cNvPr>
          <p:cNvSpPr/>
          <p:nvPr/>
        </p:nvSpPr>
        <p:spPr>
          <a:xfrm>
            <a:off x="9103361" y="2944534"/>
            <a:ext cx="2607880" cy="395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ln w="0"/>
                <a:solidFill>
                  <a:schemeClr val="tx1"/>
                </a:solidFill>
              </a:rPr>
              <a:t>Statistical evaluation </a:t>
            </a:r>
            <a:r>
              <a:rPr lang="de-DE" baseline="30000">
                <a:ln w="0"/>
                <a:solidFill>
                  <a:schemeClr val="tx1"/>
                </a:solidFill>
              </a:rPr>
              <a:t>[11]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697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986CD-2921-3EA0-81AD-0C5B3FAEB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9E70B8-BF2D-46AF-5702-B23B93416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248846-F543-5D58-509F-3EC104433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E1EF934-7D43-DDA7-90A5-3E16C0210E5C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47C4368-4026-6BC4-7FA8-1DA199F00A23}"/>
              </a:ext>
            </a:extLst>
          </p:cNvPr>
          <p:cNvSpPr/>
          <p:nvPr/>
        </p:nvSpPr>
        <p:spPr>
          <a:xfrm>
            <a:off x="216306" y="196644"/>
            <a:ext cx="5879694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Putatively deleterious variants with high impact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B934648-C7BD-99E0-4AE6-D3A6D92908F0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8</a:t>
            </a:r>
            <a:endParaRPr lang="en-GB">
              <a:solidFill>
                <a:schemeClr val="tx1"/>
              </a:solidFill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A352CA7-D939-D8E0-C660-E4C6CD837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855" y="1037618"/>
            <a:ext cx="9352290" cy="5342861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126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A9AE4-905F-F4E7-361C-3F331F42C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BC930F-D593-8380-B494-BDD31008D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0DBA9D-34BA-77F4-7271-D1DEC44DD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D881B7-81CE-E4CD-4E4C-466851679B24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84B364A-D50F-CE55-4496-E00AFEE9B4A2}"/>
              </a:ext>
            </a:extLst>
          </p:cNvPr>
          <p:cNvSpPr/>
          <p:nvPr/>
        </p:nvSpPr>
        <p:spPr>
          <a:xfrm>
            <a:off x="216306" y="196644"/>
            <a:ext cx="5879694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Putatively deleterious variants with high impact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5C2940B-00B6-AFC6-ACF7-D2FAF6110ACD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9</a:t>
            </a:r>
            <a:endParaRPr lang="en-GB">
              <a:solidFill>
                <a:schemeClr val="tx1"/>
              </a:solidFill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8F143053-0DC2-7E7F-B5FB-FCE78452A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38" y="1191678"/>
            <a:ext cx="7832539" cy="4474644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9847F39-24BF-5B42-8BA9-BFF97F3A344B}"/>
              </a:ext>
            </a:extLst>
          </p:cNvPr>
          <p:cNvSpPr/>
          <p:nvPr/>
        </p:nvSpPr>
        <p:spPr>
          <a:xfrm>
            <a:off x="8717673" y="2140621"/>
            <a:ext cx="2905054" cy="29972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Across 4.219.825 variants: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282 X-linked putatively deleterious variants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de-DE" b="1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3.885 autosomal putatively deleterious variants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928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9C952-81E5-DDCD-2857-EF46790BB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F0FF97-A4E0-534B-31B8-D7E85DA16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7E68E6-860A-43A1-9D28-211C88110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29B09BD-2A3C-AA0A-8FE0-D01ED63B628F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B698886-8DDE-F4D9-6F1A-6B64F1EAC847}"/>
              </a:ext>
            </a:extLst>
          </p:cNvPr>
          <p:cNvSpPr/>
          <p:nvPr/>
        </p:nvSpPr>
        <p:spPr>
          <a:xfrm>
            <a:off x="216306" y="196644"/>
            <a:ext cx="4768649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Evolutionary constraint across the genome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34DB037-2ABD-E890-AEC6-2A03424FBACC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10</a:t>
            </a:r>
            <a:endParaRPr lang="en-GB">
              <a:solidFill>
                <a:schemeClr val="tx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7CD84E0-64E0-DBE6-B72E-2CD374E38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831" y="1006593"/>
            <a:ext cx="9246338" cy="5282331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8299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374F5-8E7A-9BE7-CE08-A5372F53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367ED-2B59-2DC1-0C62-03AF143D4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743FDA-9BCD-2761-76B6-211C6D944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572886E-A409-4F00-2484-E7610EFDB135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50F5B11-7D3C-FEA5-9E6F-41FB07E3A7ED}"/>
              </a:ext>
            </a:extLst>
          </p:cNvPr>
          <p:cNvSpPr/>
          <p:nvPr/>
        </p:nvSpPr>
        <p:spPr>
          <a:xfrm>
            <a:off x="216306" y="196644"/>
            <a:ext cx="4768649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Evolutionary constraint across the genome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1E90F0A-84C0-1CF2-BF9B-E40C631A7A3B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11</a:t>
            </a:r>
            <a:endParaRPr lang="en-GB">
              <a:solidFill>
                <a:schemeClr val="tx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F4C3BC5-1346-0F52-8298-57BE4EFB7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25" y="1274623"/>
            <a:ext cx="7821531" cy="4468354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F7765F12-6715-62AF-F638-38C219385070}"/>
                  </a:ext>
                </a:extLst>
              </p:cNvPr>
              <p:cNvSpPr/>
              <p:nvPr/>
            </p:nvSpPr>
            <p:spPr>
              <a:xfrm>
                <a:off x="8717673" y="2140621"/>
                <a:ext cx="2905054" cy="299722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de-DE">
                  <a:solidFill>
                    <a:schemeClr val="tx1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de-DE">
                    <a:solidFill>
                      <a:schemeClr val="tx1"/>
                    </a:solidFill>
                  </a:rPr>
                  <a:t>RS </a:t>
                </a:r>
                <a14:m>
                  <m:oMath xmlns:m="http://schemas.openxmlformats.org/officeDocument/2006/math">
                    <m:r>
                      <a:rPr lang="de-D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de-DE">
                    <a:solidFill>
                      <a:schemeClr val="tx1"/>
                    </a:solidFill>
                  </a:rPr>
                  <a:t> 4 :     putatively deleterious variant </a:t>
                </a:r>
                <a:r>
                  <a:rPr lang="de-DE" baseline="30000">
                    <a:solidFill>
                      <a:schemeClr val="tx1"/>
                    </a:solidFill>
                  </a:rPr>
                  <a:t>[12, 13]</a:t>
                </a:r>
                <a:endParaRPr lang="de-DE">
                  <a:solidFill>
                    <a:schemeClr val="tx1"/>
                  </a:solidFill>
                </a:endParaRPr>
              </a:p>
              <a:p>
                <a:pPr algn="just"/>
                <a:endParaRPr lang="de-DE">
                  <a:solidFill>
                    <a:schemeClr val="tx1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GB">
                    <a:solidFill>
                      <a:schemeClr val="tx1"/>
                    </a:solidFill>
                  </a:rPr>
                  <a:t>196.374 X-linked putatively deleterious variants</a:t>
                </a:r>
              </a:p>
              <a:p>
                <a:pPr algn="just"/>
                <a:endParaRPr lang="en-GB">
                  <a:solidFill>
                    <a:schemeClr val="tx1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GB">
                    <a:solidFill>
                      <a:schemeClr val="tx1"/>
                    </a:solidFill>
                  </a:rPr>
                  <a:t> 1.302.241 autosomal putatively deleterious variants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F7765F12-6715-62AF-F638-38C2193850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7673" y="2140621"/>
                <a:ext cx="2905054" cy="29972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3D3146B2-5C19-1591-C5F8-889593F562CA}"/>
              </a:ext>
            </a:extLst>
          </p:cNvPr>
          <p:cNvSpPr/>
          <p:nvPr/>
        </p:nvSpPr>
        <p:spPr>
          <a:xfrm>
            <a:off x="216307" y="6046839"/>
            <a:ext cx="11769216" cy="60453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[12]</a:t>
            </a:r>
            <a:r>
              <a:rPr lang="en-GB" sz="1000">
                <a:solidFill>
                  <a:schemeClr val="tx1"/>
                </a:solidFill>
              </a:rPr>
              <a:t> Chen, R. S., Soulsbury, C. D., Hench, K., van Oers, K., &amp; Hoffman, J. I. (2025). Predicted deleterious mutations reveal the genetic architecture of male reproductive success in a lekking bird. Nature Ecology &amp; Evolution, 9(10), 1924–1937. https://doi.org/10.1038/s41559-025-02802-8 </a:t>
            </a:r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[13] </a:t>
            </a:r>
            <a:r>
              <a:rPr lang="en-GB" sz="1000">
                <a:solidFill>
                  <a:schemeClr val="tx1"/>
                </a:solidFill>
              </a:rPr>
              <a:t>Smeds, L., &amp; Ellegren, H. (2023). From high masked to high realized genetic load in inbred Scandinavian wolves. Molecular Ecology, 32(7), 1567–1580. https://doi.org/10.1111/mec.16802 </a:t>
            </a: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147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432F8-4EE1-7138-A2A1-246D1D3AF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BCF93-6FA5-7D8E-A335-9474D9609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9696F8-069F-80DB-747B-417014F08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8087AAE-6F47-1FFD-C939-76B3FA334D3E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5153553-2224-10D7-420F-D94D0DD16B25}"/>
              </a:ext>
            </a:extLst>
          </p:cNvPr>
          <p:cNvSpPr/>
          <p:nvPr/>
        </p:nvSpPr>
        <p:spPr>
          <a:xfrm>
            <a:off x="216306" y="196644"/>
            <a:ext cx="5879694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Putatively deleterious variants with high impact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14CC8B7-9EAC-C34A-489F-AEC19A6BECFB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12</a:t>
            </a:r>
            <a:endParaRPr lang="en-GB">
              <a:solidFill>
                <a:schemeClr val="tx1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E66B6D5-9469-0880-00E8-262EC134C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661" y="1094338"/>
            <a:ext cx="8956939" cy="5117001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4197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4B5E2-8B4E-82F8-D4BF-9641CAF7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FE3A7-30F2-F5DE-3DFD-AEB46E88A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DDF931-8313-CB20-30B3-32BE67E80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4EE51C5-125E-36BF-2FFB-089DBBD49D83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8458853-3811-8103-F51E-B5A124E6A6C1}"/>
              </a:ext>
            </a:extLst>
          </p:cNvPr>
          <p:cNvSpPr/>
          <p:nvPr/>
        </p:nvSpPr>
        <p:spPr>
          <a:xfrm>
            <a:off x="216306" y="196644"/>
            <a:ext cx="5879694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Putatively deleterious variants with high impact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41E3DA6-413D-BDB3-E143-59A06040A047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13</a:t>
            </a:r>
            <a:endParaRPr lang="en-GB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179F4F1-B650-1639-42AA-B08A5FCEB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407" y="1183723"/>
            <a:ext cx="7858470" cy="4490554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47A2FF6B-2117-349D-DC3E-6E0BF9C84922}"/>
              </a:ext>
            </a:extLst>
          </p:cNvPr>
          <p:cNvSpPr/>
          <p:nvPr/>
        </p:nvSpPr>
        <p:spPr>
          <a:xfrm>
            <a:off x="8634977" y="3034294"/>
            <a:ext cx="2905054" cy="7448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Range of values similar to previous studies </a:t>
            </a:r>
            <a:r>
              <a:rPr lang="de-DE" baseline="30000">
                <a:solidFill>
                  <a:schemeClr val="tx1"/>
                </a:solidFill>
              </a:rPr>
              <a:t>[10]</a:t>
            </a: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D67193E-2BE7-C239-BD94-B88B11B2153F}"/>
              </a:ext>
            </a:extLst>
          </p:cNvPr>
          <p:cNvSpPr/>
          <p:nvPr/>
        </p:nvSpPr>
        <p:spPr>
          <a:xfrm>
            <a:off x="216307" y="6210233"/>
            <a:ext cx="11769216" cy="44113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[10] </a:t>
            </a:r>
            <a:r>
              <a:rPr lang="en-GB" sz="1000">
                <a:solidFill>
                  <a:schemeClr val="tx1"/>
                </a:solidFill>
              </a:rPr>
              <a:t>Wong, H. W. S., &amp; Holman, L. (2023). Pleiotropic fitness effects across sexes and ages in the Drosophila genome and transcriptome. Evolution, 77(12), 2642–2655. https://doi.org/10.1093/evolut/qpad163</a:t>
            </a:r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442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6DD77-F50A-09E7-A3F1-F59089AD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4362E6-1985-60F6-0BF4-C8AB3B5FA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D13985-8D2B-4CDC-1D5A-D10CB8B22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A815FDA-DBD3-3209-943A-A8C6C2BF50B3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97375B1-B178-F0AB-43B9-203BDF08BBF7}"/>
              </a:ext>
            </a:extLst>
          </p:cNvPr>
          <p:cNvSpPr/>
          <p:nvPr/>
        </p:nvSpPr>
        <p:spPr>
          <a:xfrm>
            <a:off x="216306" y="196644"/>
            <a:ext cx="5879694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Putatively deleterious variants with high impact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C6BE60BC-4EAD-0FA6-1CB9-DEBA47C2C886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14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76C8CD5-02FC-A0DA-4A89-EFE896146032}"/>
              </a:ext>
            </a:extLst>
          </p:cNvPr>
          <p:cNvSpPr/>
          <p:nvPr/>
        </p:nvSpPr>
        <p:spPr>
          <a:xfrm>
            <a:off x="8835513" y="3040973"/>
            <a:ext cx="2905054" cy="822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Investigating antagonistic pleiotropy in aging </a:t>
            </a:r>
            <a:r>
              <a:rPr lang="de-DE" baseline="30000">
                <a:solidFill>
                  <a:schemeClr val="tx1"/>
                </a:solidFill>
              </a:rPr>
              <a:t>[14, 15]</a:t>
            </a: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0192574-DC87-56F8-B378-7B2419A305D5}"/>
              </a:ext>
            </a:extLst>
          </p:cNvPr>
          <p:cNvSpPr/>
          <p:nvPr/>
        </p:nvSpPr>
        <p:spPr>
          <a:xfrm>
            <a:off x="216307" y="6107068"/>
            <a:ext cx="11769216" cy="54430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[14] </a:t>
            </a:r>
            <a:r>
              <a:rPr lang="en-GB" sz="1000">
                <a:solidFill>
                  <a:schemeClr val="tx1"/>
                </a:solidFill>
              </a:rPr>
              <a:t>Williams, G. C. (1957). Pleiotropy, Natural Selection, and the Evolution of Senescence. Evolution, 11(4), 398–411. https://doi.org/10.1111/j.1558-5646.1957.tb02911.x</a:t>
            </a:r>
          </a:p>
          <a:p>
            <a:r>
              <a:rPr lang="en-GB" sz="1000" b="1">
                <a:solidFill>
                  <a:schemeClr val="tx1"/>
                </a:solidFill>
              </a:rPr>
              <a:t>[15] </a:t>
            </a:r>
            <a:r>
              <a:rPr lang="en-GB" sz="1000">
                <a:solidFill>
                  <a:schemeClr val="tx1"/>
                </a:solidFill>
              </a:rPr>
              <a:t>Austad, S. N., &amp; Hoffman, J. M. (2018). Is antagonistic pleiotropy ubiquitous in aging biology? Evolution, Medicine, and Public Health, 2018(1), 287–294. https://doi.org/10.1093/emph/eoy033</a:t>
            </a:r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132D3C7-C305-3C38-46EA-EF3497D95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33" y="1131422"/>
            <a:ext cx="8123608" cy="464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47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C9115-DC6E-8EE1-F70B-8B089F220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A672FC-BE2C-1723-067B-3D30A0A38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B25594-7A61-E5CF-3352-9AE50629F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E83D861-5612-36B3-D641-A1AEF114E58C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3FB70BE-80D2-5D9B-F745-14E038A41943}"/>
              </a:ext>
            </a:extLst>
          </p:cNvPr>
          <p:cNvSpPr/>
          <p:nvPr/>
        </p:nvSpPr>
        <p:spPr>
          <a:xfrm>
            <a:off x="216306" y="196644"/>
            <a:ext cx="3736262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Discussion – Genetic purging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83E794A-A23A-3EFF-DBB8-602CBD162246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15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06B8F87-FB12-4638-DAEC-B023A0EB103F}"/>
              </a:ext>
            </a:extLst>
          </p:cNvPr>
          <p:cNvSpPr/>
          <p:nvPr/>
        </p:nvSpPr>
        <p:spPr>
          <a:xfrm>
            <a:off x="3608959" y="2927555"/>
            <a:ext cx="4974082" cy="10028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The findings did not match the expectations based on theory – but we can try to explain them</a:t>
            </a:r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138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ABEFE-800F-5F4B-4618-60D56D4AB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371A4D-9898-8957-9253-7AD59BA4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0E60D3-50C7-6CD3-A3AC-9A284BE78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A0B689A-9C16-EB0B-CBE0-68FA4682B65A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2E2E607-FA64-C48F-BEF4-CC22B6C3A43D}"/>
              </a:ext>
            </a:extLst>
          </p:cNvPr>
          <p:cNvSpPr/>
          <p:nvPr/>
        </p:nvSpPr>
        <p:spPr>
          <a:xfrm>
            <a:off x="216306" y="196644"/>
            <a:ext cx="3736262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Discussion – Genetic purging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BC5D20A-B3D6-84F2-C1E6-091619C58172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16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55DCD66-A13F-C359-49A3-D1F9E1C3DD61}"/>
              </a:ext>
            </a:extLst>
          </p:cNvPr>
          <p:cNvSpPr/>
          <p:nvPr/>
        </p:nvSpPr>
        <p:spPr>
          <a:xfrm>
            <a:off x="216307" y="5279922"/>
            <a:ext cx="11769216" cy="13714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[16] </a:t>
            </a:r>
            <a:r>
              <a:rPr lang="en-GB" sz="1000">
                <a:solidFill>
                  <a:schemeClr val="tx1"/>
                </a:solidFill>
              </a:rPr>
              <a:t>Crnokrak, P., &amp; Barrett, S. C. H. (2002). PERSPECTIVE: PURGING THE GENETIC LOAD: A REVIEW OF THE EXPERIMENTAL EVIDENCE. Evolution, 56(12), 2347–2358. https://doi.org/10.1111/j.0014-3820.2002.tb00160.x</a:t>
            </a:r>
          </a:p>
          <a:p>
            <a:r>
              <a:rPr lang="en-GB" sz="1000" b="1">
                <a:solidFill>
                  <a:schemeClr val="tx1"/>
                </a:solidFill>
              </a:rPr>
              <a:t>[17] </a:t>
            </a:r>
            <a:r>
              <a:rPr lang="en-GB" sz="1000">
                <a:solidFill>
                  <a:schemeClr val="tx1"/>
                </a:solidFill>
              </a:rPr>
              <a:t>García-Dorado, A. (2012). Understanding and Predicting the Fitness Decline of Shrunk Populations: Inbreeding, Purging, Mutation, and Standard Selection. Genetics, 190(4), 1461–1476. https://doi.org/10.1534/genetics.111.135541</a:t>
            </a:r>
          </a:p>
          <a:p>
            <a:r>
              <a:rPr lang="en-GB" sz="1000" b="1">
                <a:solidFill>
                  <a:schemeClr val="tx1"/>
                </a:solidFill>
              </a:rPr>
              <a:t>[18] </a:t>
            </a:r>
            <a:r>
              <a:rPr lang="en-GB" sz="1000">
                <a:solidFill>
                  <a:schemeClr val="tx1"/>
                </a:solidFill>
              </a:rPr>
              <a:t>Khan, A., Patel, K., Shukla, H., Viswanathan, A., van der Valk, T., Borthakur, U., Nigam, P., Zachariah, A., Jhala, Y. V., Kardos, M., &amp; Ramakrishnan, U. (2021). Genomic evidence for inbreeding depression and purging of deleterious genetic variation in Indian tigers. Proceedings of the National Academy of Sciences, 118(49), e2023018118. https://doi.org/10.1073/pnas.2023018118 </a:t>
            </a:r>
          </a:p>
          <a:p>
            <a:r>
              <a:rPr lang="en-GB" sz="1000" b="1">
                <a:solidFill>
                  <a:schemeClr val="tx1"/>
                </a:solidFill>
              </a:rPr>
              <a:t>[19] </a:t>
            </a:r>
            <a:r>
              <a:rPr lang="en-GB" sz="1000">
                <a:solidFill>
                  <a:schemeClr val="tx1"/>
                </a:solidFill>
              </a:rPr>
              <a:t>Kleinman-Ruiz, D., Lucena-Perez, M., Villanueva, B., Fernández, J., Saveljev, A. P., Ratkiewicz, M., Schmidt, K., Galtier, N., García-Dorado, A., &amp; Godoy, J. A. (2022). Purging of deleterious burden in the endangered Iberian lynx. Proceedings of the National Academy of Sciences, 119(11), e2110614119. https://doi.org/10.1073/pnas.2110614119 </a:t>
            </a: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C80ABA1-362F-61AF-DF0C-41AE87DFB4F1}"/>
              </a:ext>
            </a:extLst>
          </p:cNvPr>
          <p:cNvSpPr/>
          <p:nvPr/>
        </p:nvSpPr>
        <p:spPr>
          <a:xfrm>
            <a:off x="423805" y="914131"/>
            <a:ext cx="2293152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1) Genetic purging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9DFCB4E-5646-1698-92FD-C85E54313E34}"/>
              </a:ext>
            </a:extLst>
          </p:cNvPr>
          <p:cNvSpPr/>
          <p:nvPr/>
        </p:nvSpPr>
        <p:spPr>
          <a:xfrm>
            <a:off x="1100902" y="1708557"/>
            <a:ext cx="4249796" cy="11667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Inbreeding depression because of the exposure of deleterious recessives and loss of genetic variability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Pfeil: nach links und rechts 13">
            <a:extLst>
              <a:ext uri="{FF2B5EF4-FFF2-40B4-BE49-F238E27FC236}">
                <a16:creationId xmlns:a16="http://schemas.microsoft.com/office/drawing/2014/main" id="{EA085E51-A045-4BFF-6E3D-60A164DF4A53}"/>
              </a:ext>
            </a:extLst>
          </p:cNvPr>
          <p:cNvSpPr/>
          <p:nvPr/>
        </p:nvSpPr>
        <p:spPr>
          <a:xfrm>
            <a:off x="5633720" y="2018594"/>
            <a:ext cx="883920" cy="39134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4601443-A9F0-11E7-88DB-308C7FDC9180}"/>
              </a:ext>
            </a:extLst>
          </p:cNvPr>
          <p:cNvSpPr/>
          <p:nvPr/>
        </p:nvSpPr>
        <p:spPr>
          <a:xfrm>
            <a:off x="6800662" y="1708557"/>
            <a:ext cx="4249796" cy="11667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Removal of deleterious sites from population after exposure to selection (genetic purging) </a:t>
            </a:r>
            <a:r>
              <a:rPr lang="de-DE" baseline="30000">
                <a:solidFill>
                  <a:schemeClr val="tx1"/>
                </a:solidFill>
              </a:rPr>
              <a:t>[16, 17, 18, 19]</a:t>
            </a: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A167A93-FCFB-2B50-B2C9-66CC9E0FE2C3}"/>
              </a:ext>
            </a:extLst>
          </p:cNvPr>
          <p:cNvSpPr txBox="1"/>
          <p:nvPr/>
        </p:nvSpPr>
        <p:spPr>
          <a:xfrm>
            <a:off x="5543009" y="1651553"/>
            <a:ext cx="1166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Trade-off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489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3349F-D119-DB37-0EE6-121CC529B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3D310A-CDD8-DE1F-0159-F33791233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50BC9B-81C9-40C0-6898-7558E4292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E29DC55-CF4D-C4E8-E3BA-3F710E884C00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C654F83-4667-9F0A-F4DD-4276E0CB64E1}"/>
              </a:ext>
            </a:extLst>
          </p:cNvPr>
          <p:cNvSpPr/>
          <p:nvPr/>
        </p:nvSpPr>
        <p:spPr>
          <a:xfrm>
            <a:off x="216306" y="196644"/>
            <a:ext cx="3736262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Discussion – Genetic purging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C4ED0BEC-7718-13AA-F079-402BA1455423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17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4C689D5-7264-FA23-3038-89C30F1EEC95}"/>
              </a:ext>
            </a:extLst>
          </p:cNvPr>
          <p:cNvSpPr/>
          <p:nvPr/>
        </p:nvSpPr>
        <p:spPr>
          <a:xfrm>
            <a:off x="216307" y="5943869"/>
            <a:ext cx="11769216" cy="70750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[20] </a:t>
            </a:r>
            <a:r>
              <a:rPr lang="en-GB" sz="1000">
                <a:solidFill>
                  <a:schemeClr val="tx1"/>
                </a:solidFill>
              </a:rPr>
              <a:t>Hedrick, P. W. (1994). Purging inbreeding depression and the probability of extinction: Full-sib mating. Heredity, 73(4), 363–372. https://doi.org/10.1038/hdy.1994.183</a:t>
            </a:r>
          </a:p>
          <a:p>
            <a:r>
              <a:rPr lang="en-GB" sz="1000" b="1">
                <a:solidFill>
                  <a:schemeClr val="tx1"/>
                </a:solidFill>
              </a:rPr>
              <a:t>[21] </a:t>
            </a:r>
            <a:r>
              <a:rPr lang="en-GB" sz="1000">
                <a:solidFill>
                  <a:schemeClr val="tx1"/>
                </a:solidFill>
              </a:rPr>
              <a:t>Hedrick, P. W., &amp; Garcia-Dorado, A. (2016). Understanding Inbreeding Depression, Purging, and Genetic Rescue. Trends in Ecology &amp; Evolution, 31(12), 940–952. https://doi.org/10.1016/j.tree.2016.09.005</a:t>
            </a:r>
          </a:p>
          <a:p>
            <a:r>
              <a:rPr lang="en-GB" sz="1000" b="1">
                <a:solidFill>
                  <a:schemeClr val="tx1"/>
                </a:solidFill>
              </a:rPr>
              <a:t>[22] </a:t>
            </a:r>
            <a:r>
              <a:rPr lang="en-GB" sz="1000">
                <a:solidFill>
                  <a:schemeClr val="tx1"/>
                </a:solidFill>
              </a:rPr>
              <a:t>Simmons, M. J., &amp; Crow, J. F. (1977). MUTATIONS AFFECTING FITNESS IN DROSOPHILA POPULATIONS. Annual Review of Genetics, 11(Volume 11, 1977), 49–78. https://doi.org/10.1146/annurev.ge.11.120177.000405 </a:t>
            </a: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55DF527-29C5-90CF-5D4E-F6E0FF7BBE57}"/>
              </a:ext>
            </a:extLst>
          </p:cNvPr>
          <p:cNvSpPr/>
          <p:nvPr/>
        </p:nvSpPr>
        <p:spPr>
          <a:xfrm>
            <a:off x="423805" y="914131"/>
            <a:ext cx="2293152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1) Genetic purging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FDCB6B1-DE38-E3A5-5255-749ABDC1BF2B}"/>
              </a:ext>
            </a:extLst>
          </p:cNvPr>
          <p:cNvSpPr/>
          <p:nvPr/>
        </p:nvSpPr>
        <p:spPr>
          <a:xfrm>
            <a:off x="1100902" y="1708557"/>
            <a:ext cx="4249796" cy="11667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Inbreeding depression because of the exposure of deleterious recessives and loss of genetic variability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Pfeil: nach links und rechts 13">
            <a:extLst>
              <a:ext uri="{FF2B5EF4-FFF2-40B4-BE49-F238E27FC236}">
                <a16:creationId xmlns:a16="http://schemas.microsoft.com/office/drawing/2014/main" id="{D41E8BD7-6C44-03B1-FFF0-9AE46FBCC08E}"/>
              </a:ext>
            </a:extLst>
          </p:cNvPr>
          <p:cNvSpPr/>
          <p:nvPr/>
        </p:nvSpPr>
        <p:spPr>
          <a:xfrm>
            <a:off x="5633720" y="2018594"/>
            <a:ext cx="883920" cy="39134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DCFE073-E598-03D7-E7C6-C60B5398ECCD}"/>
              </a:ext>
            </a:extLst>
          </p:cNvPr>
          <p:cNvSpPr/>
          <p:nvPr/>
        </p:nvSpPr>
        <p:spPr>
          <a:xfrm>
            <a:off x="6800662" y="1708557"/>
            <a:ext cx="4249796" cy="11667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Removal of deleterious sites from population after exposure to selection (genetic purging) </a:t>
            </a:r>
            <a:r>
              <a:rPr lang="de-DE" baseline="30000">
                <a:solidFill>
                  <a:schemeClr val="tx1"/>
                </a:solidFill>
              </a:rPr>
              <a:t>[16, 17, 18, 19]</a:t>
            </a: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C40A89E-2096-406A-3FEF-EA4D6BCF1107}"/>
              </a:ext>
            </a:extLst>
          </p:cNvPr>
          <p:cNvSpPr txBox="1"/>
          <p:nvPr/>
        </p:nvSpPr>
        <p:spPr>
          <a:xfrm>
            <a:off x="5543009" y="1651553"/>
            <a:ext cx="1166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Trade-off</a:t>
            </a:r>
            <a:endParaRPr lang="en-GB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B8F4BD1-23BA-93F5-702A-A4FA44E09430}"/>
              </a:ext>
            </a:extLst>
          </p:cNvPr>
          <p:cNvSpPr/>
          <p:nvPr/>
        </p:nvSpPr>
        <p:spPr>
          <a:xfrm>
            <a:off x="6800662" y="3051773"/>
            <a:ext cx="4249796" cy="6667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  Purging effects are stronger the more  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lethal the mutations are </a:t>
            </a:r>
            <a:r>
              <a:rPr lang="de-DE" baseline="30000">
                <a:solidFill>
                  <a:schemeClr val="tx1"/>
                </a:solidFill>
              </a:rPr>
              <a:t>[20]</a:t>
            </a: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2109691-5E14-5BD3-81E6-4D1137192296}"/>
              </a:ext>
            </a:extLst>
          </p:cNvPr>
          <p:cNvSpPr/>
          <p:nvPr/>
        </p:nvSpPr>
        <p:spPr>
          <a:xfrm>
            <a:off x="6800662" y="3718561"/>
            <a:ext cx="4249796" cy="9455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  Half </a:t>
            </a:r>
            <a:r>
              <a:rPr lang="en-GB">
                <a:solidFill>
                  <a:schemeClr val="tx1"/>
                </a:solidFill>
              </a:rPr>
              <a:t>of the inbreeding depression for </a:t>
            </a:r>
          </a:p>
          <a:p>
            <a:pPr algn="just"/>
            <a:r>
              <a:rPr lang="en-GB">
                <a:solidFill>
                  <a:schemeClr val="tx1"/>
                </a:solidFill>
              </a:rPr>
              <a:t>  viability in </a:t>
            </a:r>
            <a:r>
              <a:rPr lang="en-GB" i="1">
                <a:solidFill>
                  <a:schemeClr val="tx1"/>
                </a:solidFill>
              </a:rPr>
              <a:t>Drosophila</a:t>
            </a:r>
            <a:r>
              <a:rPr lang="en-GB">
                <a:solidFill>
                  <a:schemeClr val="tx1"/>
                </a:solidFill>
              </a:rPr>
              <a:t> is caused by </a:t>
            </a:r>
          </a:p>
          <a:p>
            <a:pPr algn="just"/>
            <a:r>
              <a:rPr lang="en-GB">
                <a:solidFill>
                  <a:schemeClr val="tx1"/>
                </a:solidFill>
              </a:rPr>
              <a:t>  recessive lethals </a:t>
            </a:r>
            <a:r>
              <a:rPr lang="en-GB" baseline="30000">
                <a:solidFill>
                  <a:schemeClr val="tx1"/>
                </a:solidFill>
              </a:rPr>
              <a:t>[21, 22]</a:t>
            </a: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/>
          </a:p>
        </p:txBody>
      </p:sp>
      <p:sp>
        <p:nvSpPr>
          <p:cNvPr id="9" name="Pfeil: Chevron 8">
            <a:extLst>
              <a:ext uri="{FF2B5EF4-FFF2-40B4-BE49-F238E27FC236}">
                <a16:creationId xmlns:a16="http://schemas.microsoft.com/office/drawing/2014/main" id="{A4D2B7E3-59D1-F430-A592-B7B0AE00A151}"/>
              </a:ext>
            </a:extLst>
          </p:cNvPr>
          <p:cNvSpPr/>
          <p:nvPr/>
        </p:nvSpPr>
        <p:spPr>
          <a:xfrm>
            <a:off x="6667926" y="3469641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E2E351F-826C-2AC4-9B13-DE70A89C7BF7}"/>
              </a:ext>
            </a:extLst>
          </p:cNvPr>
          <p:cNvSpPr/>
          <p:nvPr/>
        </p:nvSpPr>
        <p:spPr>
          <a:xfrm>
            <a:off x="3053176" y="4833669"/>
            <a:ext cx="6085647" cy="9406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  20 generations of inbreeding may have cleansed the DGRP 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lines from (highly) deleterious variants</a:t>
            </a: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Pfeil: Chevron 23">
            <a:extLst>
              <a:ext uri="{FF2B5EF4-FFF2-40B4-BE49-F238E27FC236}">
                <a16:creationId xmlns:a16="http://schemas.microsoft.com/office/drawing/2014/main" id="{94BBB287-9A0E-D87F-B803-06F18B3AF07C}"/>
              </a:ext>
            </a:extLst>
          </p:cNvPr>
          <p:cNvSpPr/>
          <p:nvPr/>
        </p:nvSpPr>
        <p:spPr>
          <a:xfrm>
            <a:off x="2920440" y="5066227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Pfeil: Chevron 25">
            <a:extLst>
              <a:ext uri="{FF2B5EF4-FFF2-40B4-BE49-F238E27FC236}">
                <a16:creationId xmlns:a16="http://schemas.microsoft.com/office/drawing/2014/main" id="{0F86D0B5-8C79-C8AE-3AA9-9A875FFE6C00}"/>
              </a:ext>
            </a:extLst>
          </p:cNvPr>
          <p:cNvSpPr/>
          <p:nvPr/>
        </p:nvSpPr>
        <p:spPr>
          <a:xfrm>
            <a:off x="2670209" y="5066227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Pfeil: Chevron 27">
            <a:extLst>
              <a:ext uri="{FF2B5EF4-FFF2-40B4-BE49-F238E27FC236}">
                <a16:creationId xmlns:a16="http://schemas.microsoft.com/office/drawing/2014/main" id="{FD9CFA34-8576-F582-2E3B-0EC492E7B90C}"/>
              </a:ext>
            </a:extLst>
          </p:cNvPr>
          <p:cNvSpPr/>
          <p:nvPr/>
        </p:nvSpPr>
        <p:spPr>
          <a:xfrm>
            <a:off x="2421453" y="5061665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762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0D970-F93D-47D6-0959-0CF7F1C6B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A0B76B-DF12-559D-ECF1-706C1B72C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1435D4-612E-01B1-423E-D0A58DD88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09295B4-3BCC-0156-F677-24ACBB7E361E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16F1E9A-20FE-B6B4-147B-F009230DE1C4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18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2A1A011-6001-0739-5230-A2844C950D03}"/>
              </a:ext>
            </a:extLst>
          </p:cNvPr>
          <p:cNvSpPr/>
          <p:nvPr/>
        </p:nvSpPr>
        <p:spPr>
          <a:xfrm>
            <a:off x="216306" y="196644"/>
            <a:ext cx="3736262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Discussion – Genetic purging</a:t>
            </a:r>
            <a:endParaRPr lang="en-GB" b="1">
              <a:solidFill>
                <a:schemeClr val="tx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CEF843D-7EAA-2B7D-6B87-A587522C0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57" y="1323744"/>
            <a:ext cx="7370195" cy="421051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8578AA0E-588A-DCB3-869D-D37B36B98254}"/>
              </a:ext>
            </a:extLst>
          </p:cNvPr>
          <p:cNvSpPr/>
          <p:nvPr/>
        </p:nvSpPr>
        <p:spPr>
          <a:xfrm>
            <a:off x="8268929" y="2425443"/>
            <a:ext cx="3291348" cy="2007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Across &gt; four million sites roughly 5.000 heterozygous sites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Only 11 heterozygous sites located on the X chromosome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701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40EC0-AA31-B9B1-B9DA-5674E8008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3CE1F0-362D-44F7-D104-CE4453761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2372CB-C373-5C90-A495-BFFAED81D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3582D89-E591-69DE-1F1D-0CF189FB65A9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D9B22E7-F871-2768-7261-58C2CE1D13AD}"/>
              </a:ext>
            </a:extLst>
          </p:cNvPr>
          <p:cNvSpPr/>
          <p:nvPr/>
        </p:nvSpPr>
        <p:spPr>
          <a:xfrm>
            <a:off x="216306" y="196644"/>
            <a:ext cx="3736262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Discussion – Genetic purging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6E03376-DC7B-8156-59F1-BC4AF6A11E45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19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45379E6-0681-7E18-0C87-CD86C2AE2F44}"/>
              </a:ext>
            </a:extLst>
          </p:cNvPr>
          <p:cNvSpPr/>
          <p:nvPr/>
        </p:nvSpPr>
        <p:spPr>
          <a:xfrm>
            <a:off x="216307" y="6353712"/>
            <a:ext cx="11769216" cy="29765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[10]  </a:t>
            </a:r>
            <a:r>
              <a:rPr lang="en-GB" sz="1000">
                <a:solidFill>
                  <a:schemeClr val="tx1"/>
                </a:solidFill>
              </a:rPr>
              <a:t>Wong, H. W. S., &amp; Holman, L. (2023). Pleiotropic fitness effects across sexes and ages in the Drosophila genome and transcriptome. Evolution, 77(12), 2642–2655. https://doi.org/10.1093/evolut/qpad163</a:t>
            </a:r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4C1159C-52B9-4798-D711-CF3FEB051D45}"/>
              </a:ext>
            </a:extLst>
          </p:cNvPr>
          <p:cNvSpPr/>
          <p:nvPr/>
        </p:nvSpPr>
        <p:spPr>
          <a:xfrm>
            <a:off x="3971102" y="1754827"/>
            <a:ext cx="4730446" cy="8497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Besides genetic purging the estimation of deleterious variants is very conservative: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2DDAC01-0798-6502-2431-CE25B79189BB}"/>
              </a:ext>
            </a:extLst>
          </p:cNvPr>
          <p:cNvSpPr/>
          <p:nvPr/>
        </p:nvSpPr>
        <p:spPr>
          <a:xfrm>
            <a:off x="3971102" y="2781334"/>
            <a:ext cx="4730446" cy="8497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Fitness can be only measured in living flies – lethal mutations are not represented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C4F135E-C41D-4948-1C83-BF81026604EB}"/>
              </a:ext>
            </a:extLst>
          </p:cNvPr>
          <p:cNvSpPr/>
          <p:nvPr/>
        </p:nvSpPr>
        <p:spPr>
          <a:xfrm>
            <a:off x="3971102" y="3808665"/>
            <a:ext cx="4730446" cy="12425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Fitness was measured in flies which survived both early and late life </a:t>
            </a:r>
            <a:r>
              <a:rPr lang="de-DE" baseline="30000">
                <a:solidFill>
                  <a:schemeClr val="tx1"/>
                </a:solidFill>
              </a:rPr>
              <a:t>[10]</a:t>
            </a:r>
            <a:r>
              <a:rPr lang="de-DE">
                <a:solidFill>
                  <a:schemeClr val="tx1"/>
                </a:solidFill>
              </a:rPr>
              <a:t> – the most deleterious mutations are not represented either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1377199E-491D-9DD8-1CBE-6DFACA853449}"/>
              </a:ext>
            </a:extLst>
          </p:cNvPr>
          <p:cNvSpPr/>
          <p:nvPr/>
        </p:nvSpPr>
        <p:spPr>
          <a:xfrm>
            <a:off x="423805" y="914131"/>
            <a:ext cx="2293152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1) Genetic purging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9D5A725-1C9F-1405-E558-6B6A57B9B510}"/>
              </a:ext>
            </a:extLst>
          </p:cNvPr>
          <p:cNvSpPr/>
          <p:nvPr/>
        </p:nvSpPr>
        <p:spPr>
          <a:xfrm>
            <a:off x="423804" y="1585376"/>
            <a:ext cx="2746115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2) Conservative approach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281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85E04-98FC-9AD1-B2DF-32B1F8A1C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371908-CE3E-BD23-F0EA-A61EF9013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94D2D7-8920-6C42-75D3-292E6B32D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1537A26-8BB1-EF61-1F95-3F9323129CD4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85A115F-B368-1A4E-8B80-6295A8097B52}"/>
              </a:ext>
            </a:extLst>
          </p:cNvPr>
          <p:cNvSpPr/>
          <p:nvPr/>
        </p:nvSpPr>
        <p:spPr>
          <a:xfrm>
            <a:off x="216306" y="196644"/>
            <a:ext cx="3736262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Discussion – Genetic purging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64FD7038-0622-CA3A-770F-D4EA700F8770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20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A3EDDC4-1E7F-3BE9-124A-AEEC6DAC01EE}"/>
              </a:ext>
            </a:extLst>
          </p:cNvPr>
          <p:cNvSpPr/>
          <p:nvPr/>
        </p:nvSpPr>
        <p:spPr>
          <a:xfrm>
            <a:off x="423805" y="914131"/>
            <a:ext cx="2293152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1) Genetic purging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155DE21-EB82-8CBE-BF08-43DCEB9A8AF1}"/>
              </a:ext>
            </a:extLst>
          </p:cNvPr>
          <p:cNvSpPr/>
          <p:nvPr/>
        </p:nvSpPr>
        <p:spPr>
          <a:xfrm>
            <a:off x="423804" y="1585376"/>
            <a:ext cx="2746115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2) Conservative approach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E3DEBC6-B4C8-132C-F348-09C46659CC36}"/>
              </a:ext>
            </a:extLst>
          </p:cNvPr>
          <p:cNvSpPr/>
          <p:nvPr/>
        </p:nvSpPr>
        <p:spPr>
          <a:xfrm>
            <a:off x="423804" y="2256621"/>
            <a:ext cx="3701156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3) Demasculinised X chromosome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EE38F1D-3919-A9B8-5AC1-0291EBC077B7}"/>
              </a:ext>
            </a:extLst>
          </p:cNvPr>
          <p:cNvSpPr/>
          <p:nvPr/>
        </p:nvSpPr>
        <p:spPr>
          <a:xfrm>
            <a:off x="5645689" y="1263610"/>
            <a:ext cx="4043326" cy="784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  The Drosphila X chromosome lacks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male-beneficial genes </a:t>
            </a:r>
            <a:r>
              <a:rPr lang="de-DE" baseline="30000">
                <a:solidFill>
                  <a:schemeClr val="tx1"/>
                </a:solidFill>
              </a:rPr>
              <a:t>[23, 24, 25]</a:t>
            </a: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A7F7423-A14F-C171-EE4C-8E4626BBD5A2}"/>
              </a:ext>
            </a:extLst>
          </p:cNvPr>
          <p:cNvSpPr/>
          <p:nvPr/>
        </p:nvSpPr>
        <p:spPr>
          <a:xfrm>
            <a:off x="5645688" y="2227242"/>
            <a:ext cx="4043327" cy="9122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  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  X chromosome 2/3 of the time in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females and only 1/3 of the time in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males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798ABEA-C820-D34C-AD34-02E3A416A584}"/>
              </a:ext>
            </a:extLst>
          </p:cNvPr>
          <p:cNvSpPr/>
          <p:nvPr/>
        </p:nvSpPr>
        <p:spPr>
          <a:xfrm>
            <a:off x="5645688" y="3139485"/>
            <a:ext cx="4043327" cy="1128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  Sex-biased gene expression effects,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e.g., silencing of the X chromosome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during spermatogenesis </a:t>
            </a: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0F8AD577-F236-F8B0-3D9A-A4A3EDE08212}"/>
              </a:ext>
            </a:extLst>
          </p:cNvPr>
          <p:cNvSpPr/>
          <p:nvPr/>
        </p:nvSpPr>
        <p:spPr>
          <a:xfrm>
            <a:off x="216307" y="5708288"/>
            <a:ext cx="11769216" cy="9406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[23] </a:t>
            </a:r>
            <a:r>
              <a:rPr lang="en-GB" sz="1000">
                <a:solidFill>
                  <a:schemeClr val="tx1"/>
                </a:solidFill>
              </a:rPr>
              <a:t>Gurbich, T. A., &amp; Bachtrog, D. (2008). Gene content evolution on the X chromosome. Current Opinion in Genetics &amp; Development, Genomes and evolution, 18(6), 493–498. https://doi.org/10.1016/j.gde.2008.09.006</a:t>
            </a:r>
          </a:p>
          <a:p>
            <a:r>
              <a:rPr lang="en-GB" sz="1000" b="1">
                <a:solidFill>
                  <a:schemeClr val="tx1"/>
                </a:solidFill>
              </a:rPr>
              <a:t>[24] </a:t>
            </a:r>
            <a:r>
              <a:rPr lang="en-GB" sz="1000">
                <a:solidFill>
                  <a:schemeClr val="tx1"/>
                </a:solidFill>
              </a:rPr>
              <a:t>Parisi, M., Nuttall, R., Naiman, D., Bouffard, G., Malley, J., Andrews, J., Eastman, S., &amp; Oliver, B. (2003). Paucity of Genes on the Drosophila X Chromosome Showing Male-Biased Expression. Science (New York, N.Y.), 299(5607), 697–700. https://doi.org/10.1126/science.1079190 </a:t>
            </a:r>
          </a:p>
          <a:p>
            <a:r>
              <a:rPr lang="en-GB" sz="1000" b="1">
                <a:solidFill>
                  <a:schemeClr val="tx1"/>
                </a:solidFill>
              </a:rPr>
              <a:t>[25] </a:t>
            </a:r>
            <a:r>
              <a:rPr lang="en-GB" sz="1000">
                <a:solidFill>
                  <a:schemeClr val="tx1"/>
                </a:solidFill>
              </a:rPr>
              <a:t>Sturgill, D., Zhang, Y., Parisi, M., &amp; Oliver, B. (2007). Demasculinization of X chromosomes in the Drosophila genus. Nature, 450(7167), 238–241. https://doi.org/10.1038/nature06330</a:t>
            </a: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333933AB-502E-4077-A410-DB8E16674E5D}"/>
              </a:ext>
            </a:extLst>
          </p:cNvPr>
          <p:cNvSpPr/>
          <p:nvPr/>
        </p:nvSpPr>
        <p:spPr>
          <a:xfrm>
            <a:off x="3348680" y="4552630"/>
            <a:ext cx="6340335" cy="7784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   The </a:t>
            </a:r>
            <a:r>
              <a:rPr lang="de-DE" i="1">
                <a:solidFill>
                  <a:schemeClr val="tx1"/>
                </a:solidFill>
              </a:rPr>
              <a:t>Drosophila</a:t>
            </a:r>
            <a:r>
              <a:rPr lang="de-DE">
                <a:solidFill>
                  <a:schemeClr val="tx1"/>
                </a:solidFill>
              </a:rPr>
              <a:t> X chromosome is an unhospitable location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 for male-beneficial loci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Pfeil: Chevron 27">
            <a:extLst>
              <a:ext uri="{FF2B5EF4-FFF2-40B4-BE49-F238E27FC236}">
                <a16:creationId xmlns:a16="http://schemas.microsoft.com/office/drawing/2014/main" id="{C92B0C36-5564-C359-9D7E-4E428D4DB885}"/>
              </a:ext>
            </a:extLst>
          </p:cNvPr>
          <p:cNvSpPr/>
          <p:nvPr/>
        </p:nvSpPr>
        <p:spPr>
          <a:xfrm>
            <a:off x="5512952" y="2897169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30" name="Pfeil: Chevron 29">
            <a:extLst>
              <a:ext uri="{FF2B5EF4-FFF2-40B4-BE49-F238E27FC236}">
                <a16:creationId xmlns:a16="http://schemas.microsoft.com/office/drawing/2014/main" id="{E283BC87-02F1-8BDA-A52E-29305EFC3544}"/>
              </a:ext>
            </a:extLst>
          </p:cNvPr>
          <p:cNvSpPr/>
          <p:nvPr/>
        </p:nvSpPr>
        <p:spPr>
          <a:xfrm>
            <a:off x="3215944" y="4714989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Pfeil: Chevron 31">
            <a:extLst>
              <a:ext uri="{FF2B5EF4-FFF2-40B4-BE49-F238E27FC236}">
                <a16:creationId xmlns:a16="http://schemas.microsoft.com/office/drawing/2014/main" id="{4C76E89F-6553-A9A7-22EE-2637AF11723F}"/>
              </a:ext>
            </a:extLst>
          </p:cNvPr>
          <p:cNvSpPr/>
          <p:nvPr/>
        </p:nvSpPr>
        <p:spPr>
          <a:xfrm>
            <a:off x="2965713" y="4714989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34" name="Pfeil: Chevron 33">
            <a:extLst>
              <a:ext uri="{FF2B5EF4-FFF2-40B4-BE49-F238E27FC236}">
                <a16:creationId xmlns:a16="http://schemas.microsoft.com/office/drawing/2014/main" id="{19747254-86D3-94DA-00F6-FE47061DFDBB}"/>
              </a:ext>
            </a:extLst>
          </p:cNvPr>
          <p:cNvSpPr/>
          <p:nvPr/>
        </p:nvSpPr>
        <p:spPr>
          <a:xfrm>
            <a:off x="2716957" y="4710427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558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59ED8-B477-BC88-5770-592A49762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4FB031-6943-F421-4623-823886D19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CB600D-FA13-C5B2-749D-155AA2C03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80113CA-1195-7F4B-D504-ED631AB07D18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BF7FA7C-DA1B-C678-2F0F-46DCF7468DD6}"/>
              </a:ext>
            </a:extLst>
          </p:cNvPr>
          <p:cNvSpPr/>
          <p:nvPr/>
        </p:nvSpPr>
        <p:spPr>
          <a:xfrm>
            <a:off x="216306" y="196644"/>
            <a:ext cx="3736262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Discussion – Genetic purging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6A6B113-1B9A-A56E-4AC4-5F0229B90B84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21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7B1773A-F4C8-4701-4AD2-B0825A2F527D}"/>
              </a:ext>
            </a:extLst>
          </p:cNvPr>
          <p:cNvSpPr/>
          <p:nvPr/>
        </p:nvSpPr>
        <p:spPr>
          <a:xfrm>
            <a:off x="423805" y="914131"/>
            <a:ext cx="2293152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1) Genetic purging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8144C4D-64F8-A4B4-402F-F27F86755377}"/>
              </a:ext>
            </a:extLst>
          </p:cNvPr>
          <p:cNvSpPr/>
          <p:nvPr/>
        </p:nvSpPr>
        <p:spPr>
          <a:xfrm>
            <a:off x="423804" y="1585376"/>
            <a:ext cx="2746115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2) Conservative approach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3A03B59-323B-7922-7988-A43358AF33DE}"/>
              </a:ext>
            </a:extLst>
          </p:cNvPr>
          <p:cNvSpPr/>
          <p:nvPr/>
        </p:nvSpPr>
        <p:spPr>
          <a:xfrm>
            <a:off x="423804" y="2256621"/>
            <a:ext cx="3701156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3) Demasculinised X chromosome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AE9A5543-B0E4-BC2D-CB1F-A842A2512641}"/>
              </a:ext>
            </a:extLst>
          </p:cNvPr>
          <p:cNvSpPr/>
          <p:nvPr/>
        </p:nvSpPr>
        <p:spPr>
          <a:xfrm>
            <a:off x="423804" y="2927866"/>
            <a:ext cx="2541909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4) Technical limitations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1B1D10E-4685-05E8-F598-BCF0281AF897}"/>
              </a:ext>
            </a:extLst>
          </p:cNvPr>
          <p:cNvSpPr/>
          <p:nvPr/>
        </p:nvSpPr>
        <p:spPr>
          <a:xfrm>
            <a:off x="4977935" y="1408627"/>
            <a:ext cx="4521665" cy="8147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Obtaining and filtering genotypes with both filtering criteria (impact and constraint)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430DE67-4708-A0D2-05FC-5187F0C1E36C}"/>
              </a:ext>
            </a:extLst>
          </p:cNvPr>
          <p:cNvSpPr/>
          <p:nvPr/>
        </p:nvSpPr>
        <p:spPr>
          <a:xfrm>
            <a:off x="4973738" y="3303370"/>
            <a:ext cx="4521666" cy="10714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Only possible to match genetic load with DGRP line, not with each sex, chromosome type and life stage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C092395-6388-D332-0707-226D11B6A996}"/>
              </a:ext>
            </a:extLst>
          </p:cNvPr>
          <p:cNvSpPr/>
          <p:nvPr/>
        </p:nvSpPr>
        <p:spPr>
          <a:xfrm>
            <a:off x="3727442" y="4868541"/>
            <a:ext cx="6509638" cy="8147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   Apart from biological reasons, the results can be  traced back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 to technical limitations in data structure</a:t>
            </a: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0028717-6DC2-E5DD-7965-BDA95ECAABED}"/>
              </a:ext>
            </a:extLst>
          </p:cNvPr>
          <p:cNvSpPr/>
          <p:nvPr/>
        </p:nvSpPr>
        <p:spPr>
          <a:xfrm>
            <a:off x="4973737" y="2223373"/>
            <a:ext cx="4521666" cy="7044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Calculating genetic loads for the X chromosome and autosomes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pic>
        <p:nvPicPr>
          <p:cNvPr id="29" name="Grafik 28" descr="Häkchen mit einfarbiger Füllung">
            <a:extLst>
              <a:ext uri="{FF2B5EF4-FFF2-40B4-BE49-F238E27FC236}">
                <a16:creationId xmlns:a16="http://schemas.microsoft.com/office/drawing/2014/main" id="{5549B467-C480-B799-3F64-5A26DBC5D3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09596" y="1916140"/>
            <a:ext cx="527484" cy="527484"/>
          </a:xfrm>
          <a:prstGeom prst="rect">
            <a:avLst/>
          </a:prstGeom>
        </p:spPr>
      </p:pic>
      <p:pic>
        <p:nvPicPr>
          <p:cNvPr id="33" name="Grafik 32" descr="Schließen mit einfarbiger Füllung">
            <a:extLst>
              <a:ext uri="{FF2B5EF4-FFF2-40B4-BE49-F238E27FC236}">
                <a16:creationId xmlns:a16="http://schemas.microsoft.com/office/drawing/2014/main" id="{05C140A8-E0AE-550F-1E08-0526F64F52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3376" y="3557242"/>
            <a:ext cx="527484" cy="527484"/>
          </a:xfrm>
          <a:prstGeom prst="rect">
            <a:avLst/>
          </a:prstGeom>
        </p:spPr>
      </p:pic>
      <p:sp>
        <p:nvSpPr>
          <p:cNvPr id="37" name="Pfeil: Chevron 36">
            <a:extLst>
              <a:ext uri="{FF2B5EF4-FFF2-40B4-BE49-F238E27FC236}">
                <a16:creationId xmlns:a16="http://schemas.microsoft.com/office/drawing/2014/main" id="{15949823-5348-0069-23D0-78AEDAD62F63}"/>
              </a:ext>
            </a:extLst>
          </p:cNvPr>
          <p:cNvSpPr/>
          <p:nvPr/>
        </p:nvSpPr>
        <p:spPr>
          <a:xfrm>
            <a:off x="3594706" y="5033598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1441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25801-F563-E4A6-1EA8-32D05E18A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FB2304-999A-4CD3-EE62-66796072D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83AE62-F27C-2347-FE99-C0E389C92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5475828-0C69-DD00-2619-3B028C6A90C8}"/>
              </a:ext>
            </a:extLst>
          </p:cNvPr>
          <p:cNvSpPr/>
          <p:nvPr/>
        </p:nvSpPr>
        <p:spPr>
          <a:xfrm>
            <a:off x="216307" y="19679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AFF98CA-ABA4-398C-CBB3-447802E417E6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22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FA987B0-6F16-B708-4A4C-52ED0D85036A}"/>
              </a:ext>
            </a:extLst>
          </p:cNvPr>
          <p:cNvSpPr/>
          <p:nvPr/>
        </p:nvSpPr>
        <p:spPr>
          <a:xfrm>
            <a:off x="216305" y="196644"/>
            <a:ext cx="1219205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Outlook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405A6FE-18C0-7988-19C1-1B3D908A5A8E}"/>
              </a:ext>
            </a:extLst>
          </p:cNvPr>
          <p:cNvSpPr/>
          <p:nvPr/>
        </p:nvSpPr>
        <p:spPr>
          <a:xfrm>
            <a:off x="2603091" y="3060290"/>
            <a:ext cx="6985817" cy="7082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We did not create the expected results, possibly due to biological and technical limitations, however: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</a:t>
            </a:r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394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BE8C4-1CC9-1BBE-D279-ACC990478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23E43E-6647-C557-447B-1E0EAD77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65044B-88C9-CF4A-ADD0-9DA3A1D74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6C9E665-9A51-49ED-37E3-36E01F9C56E6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F7C407F-A3E9-AD64-5224-C31489D570A2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23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AB3C7A2-666E-EAF5-C2BF-0AF60555DB28}"/>
              </a:ext>
            </a:extLst>
          </p:cNvPr>
          <p:cNvSpPr/>
          <p:nvPr/>
        </p:nvSpPr>
        <p:spPr>
          <a:xfrm>
            <a:off x="216307" y="5708288"/>
            <a:ext cx="11769216" cy="9406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[10] </a:t>
            </a:r>
            <a:r>
              <a:rPr lang="en-GB" sz="1000">
                <a:solidFill>
                  <a:schemeClr val="tx1"/>
                </a:solidFill>
              </a:rPr>
              <a:t>Wong, H. W. S., &amp; Holman, L. (2023). Pleiotropic fitness effects across sexes and ages in the Drosophila genome and transcriptome. Evolution, 77(12), 2642–2655. https://doi.org/10.1093/evolut/qpad163</a:t>
            </a:r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[12]</a:t>
            </a:r>
            <a:r>
              <a:rPr lang="en-GB" sz="1000">
                <a:solidFill>
                  <a:schemeClr val="tx1"/>
                </a:solidFill>
              </a:rPr>
              <a:t> Chen, R. S., Soulsbury, C. D., Hench, K., van Oers, K., &amp; Hoffman, J. I. (2025). Predicted deleterious mutations reveal the genetic architecture of male reproductive success in a lekking bird. Nature Ecology &amp; Evolution, 9(10), 1924–1937. https://doi.org/10.1038/s41559-025-02802-8 </a:t>
            </a:r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[13] </a:t>
            </a:r>
            <a:r>
              <a:rPr lang="en-GB" sz="1000">
                <a:solidFill>
                  <a:schemeClr val="tx1"/>
                </a:solidFill>
              </a:rPr>
              <a:t>Smeds, L., &amp; Ellegren, H. (2023). From high masked to high realized genetic load in inbred Scandinavian wolves. Molecular Ecology, 32(7), 1567–1580. https://doi.org/10.1111/mec.16802</a:t>
            </a:r>
          </a:p>
          <a:p>
            <a:r>
              <a:rPr lang="en-GB" sz="1000" b="1">
                <a:solidFill>
                  <a:schemeClr val="tx1"/>
                </a:solidFill>
              </a:rPr>
              <a:t>[26] </a:t>
            </a:r>
            <a:r>
              <a:rPr lang="en-GB" sz="1000">
                <a:solidFill>
                  <a:schemeClr val="tx1"/>
                </a:solidFill>
              </a:rPr>
              <a:t>Singh, A., Hasan, A., &amp; Agrawal, A. F. (2023). An investigation of the sex-specific genetic architecture of fitness in Drosophila melanogaster. Evolution, 77(9), 2015–2028. https://doi.org/10.1093/evolut/qpad107</a:t>
            </a:r>
          </a:p>
          <a:p>
            <a:br>
              <a:rPr lang="en-GB" sz="1000"/>
            </a:br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17DA24C-E5BD-601B-BAC4-F2F8FB6E2FB2}"/>
              </a:ext>
            </a:extLst>
          </p:cNvPr>
          <p:cNvSpPr/>
          <p:nvPr/>
        </p:nvSpPr>
        <p:spPr>
          <a:xfrm>
            <a:off x="216305" y="196644"/>
            <a:ext cx="1219205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Outlook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C1704B8-BA07-617A-8EE9-7DC2996FF64F}"/>
              </a:ext>
            </a:extLst>
          </p:cNvPr>
          <p:cNvSpPr/>
          <p:nvPr/>
        </p:nvSpPr>
        <p:spPr>
          <a:xfrm>
            <a:off x="4334305" y="541773"/>
            <a:ext cx="3523389" cy="54085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Provide basis for future research: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6D5D343-AE2E-B3E6-A6BC-46C485AD5A38}"/>
              </a:ext>
            </a:extLst>
          </p:cNvPr>
          <p:cNvSpPr/>
          <p:nvPr/>
        </p:nvSpPr>
        <p:spPr>
          <a:xfrm>
            <a:off x="3802909" y="1250002"/>
            <a:ext cx="5184758" cy="7186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Freely accessible and reproducible methods (especially on ‚cryptic‘ methods like GERP++)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DB85EBC-4F41-B667-5B54-43026277A4B7}"/>
              </a:ext>
            </a:extLst>
          </p:cNvPr>
          <p:cNvSpPr/>
          <p:nvPr/>
        </p:nvSpPr>
        <p:spPr>
          <a:xfrm>
            <a:off x="3802909" y="2136073"/>
            <a:ext cx="5184758" cy="6967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Clear recommendations on what needs to be paid attention to in future studies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C9D5DE6-1D25-AC4F-3B59-8849C4D874EE}"/>
              </a:ext>
            </a:extLst>
          </p:cNvPr>
          <p:cNvSpPr/>
          <p:nvPr/>
        </p:nvSpPr>
        <p:spPr>
          <a:xfrm>
            <a:off x="3802909" y="2998621"/>
            <a:ext cx="5184758" cy="119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Recently these methods have raised interest in wild and controlled populations </a:t>
            </a:r>
            <a:r>
              <a:rPr lang="de-DE" baseline="30000">
                <a:solidFill>
                  <a:schemeClr val="tx1"/>
                </a:solidFill>
              </a:rPr>
              <a:t>[10, 11, 12, 21]</a:t>
            </a:r>
            <a:r>
              <a:rPr lang="de-DE">
                <a:solidFill>
                  <a:schemeClr val="tx1"/>
                </a:solidFill>
              </a:rPr>
              <a:t>: methods can be applied broadly as long as certain data criteria are fulfilled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6315400-4A71-6C6D-BAB8-45752E9E9758}"/>
              </a:ext>
            </a:extLst>
          </p:cNvPr>
          <p:cNvSpPr/>
          <p:nvPr/>
        </p:nvSpPr>
        <p:spPr>
          <a:xfrm>
            <a:off x="3802909" y="4364031"/>
            <a:ext cx="5184758" cy="119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Personal interest: Evolution through whole genome duplication - substution scores between gene duplicates to find evidence of conservational divergence </a:t>
            </a:r>
          </a:p>
        </p:txBody>
      </p:sp>
    </p:spTree>
    <p:extLst>
      <p:ext uri="{BB962C8B-B14F-4D97-AF65-F5344CB8AC3E}">
        <p14:creationId xmlns:p14="http://schemas.microsoft.com/office/powerpoint/2010/main" val="2968551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22F3-0458-8094-27B2-588F5AADA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36A53B-B407-D01E-04F3-A607396A4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280FE9-C1FE-E7C3-2E50-761E0F594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EA2DF63-1E64-8728-C9E3-07AEA0AF339A}"/>
              </a:ext>
            </a:extLst>
          </p:cNvPr>
          <p:cNvSpPr/>
          <p:nvPr/>
        </p:nvSpPr>
        <p:spPr>
          <a:xfrm>
            <a:off x="216307" y="19679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D6D4C05-29A3-1DD0-40F3-3F99305FC3EE}"/>
              </a:ext>
            </a:extLst>
          </p:cNvPr>
          <p:cNvSpPr/>
          <p:nvPr/>
        </p:nvSpPr>
        <p:spPr>
          <a:xfrm>
            <a:off x="4807972" y="3112086"/>
            <a:ext cx="2576056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Some closing remarks</a:t>
            </a:r>
            <a:endParaRPr lang="en-GB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512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3209</Words>
  <Application>Microsoft Office PowerPoint</Application>
  <PresentationFormat>Breitbild</PresentationFormat>
  <Paragraphs>493</Paragraphs>
  <Slides>25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Office</vt:lpstr>
      <vt:lpstr>Title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Winkler, Benjamin</dc:creator>
  <cp:lastModifiedBy>Winkler, Benjamin</cp:lastModifiedBy>
  <cp:revision>398</cp:revision>
  <dcterms:created xsi:type="dcterms:W3CDTF">2026-07-29T15:32:14Z</dcterms:created>
  <dcterms:modified xsi:type="dcterms:W3CDTF">2026-08-17T10:49:55Z</dcterms:modified>
</cp:coreProperties>
</file>